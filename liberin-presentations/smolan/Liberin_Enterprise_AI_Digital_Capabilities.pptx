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4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243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image" Target="../media/image1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10" Type="http://schemas.openxmlformats.org/officeDocument/2006/relationships/image" Target="../media/image2.pn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10" Type="http://schemas.openxmlformats.org/officeDocument/2006/relationships/image" Target="../media/image2.pn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1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2.pn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18.svg"/><Relationship Id="rId9" Type="http://schemas.openxmlformats.org/officeDocument/2006/relationships/image" Target="../media/image3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12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1.svg"/><Relationship Id="rId7" Type="http://schemas.openxmlformats.org/officeDocument/2006/relationships/image" Target="../media/image48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11" Type="http://schemas.openxmlformats.org/officeDocument/2006/relationships/image" Target="../media/image51.svg"/><Relationship Id="rId5" Type="http://schemas.openxmlformats.org/officeDocument/2006/relationships/image" Target="../media/image46.svg"/><Relationship Id="rId10" Type="http://schemas.openxmlformats.org/officeDocument/2006/relationships/image" Target="../media/image50.svg"/><Relationship Id="rId4" Type="http://schemas.openxmlformats.org/officeDocument/2006/relationships/image" Target="../media/image45.svg"/><Relationship Id="rId9" Type="http://schemas.openxmlformats.org/officeDocument/2006/relationships/image" Target="../media/image4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1.svg"/><Relationship Id="rId7" Type="http://schemas.openxmlformats.org/officeDocument/2006/relationships/image" Target="../media/image55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11" Type="http://schemas.openxmlformats.org/officeDocument/2006/relationships/image" Target="../media/image58.svg"/><Relationship Id="rId5" Type="http://schemas.openxmlformats.org/officeDocument/2006/relationships/image" Target="../media/image53.svg"/><Relationship Id="rId10" Type="http://schemas.openxmlformats.org/officeDocument/2006/relationships/image" Target="../media/image22.svg"/><Relationship Id="rId4" Type="http://schemas.openxmlformats.org/officeDocument/2006/relationships/image" Target="../media/image52.svg"/><Relationship Id="rId9" Type="http://schemas.openxmlformats.org/officeDocument/2006/relationships/image" Target="../media/image5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5" Type="http://schemas.openxmlformats.org/officeDocument/2006/relationships/image" Target="../media/image53.svg"/><Relationship Id="rId4" Type="http://schemas.openxmlformats.org/officeDocument/2006/relationships/image" Target="../media/image6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svg"/><Relationship Id="rId7" Type="http://schemas.openxmlformats.org/officeDocument/2006/relationships/image" Target="../media/image7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10" Type="http://schemas.openxmlformats.org/officeDocument/2006/relationships/image" Target="../media/image2.png"/><Relationship Id="rId4" Type="http://schemas.openxmlformats.org/officeDocument/2006/relationships/image" Target="../media/image67.svg"/><Relationship Id="rId9" Type="http://schemas.openxmlformats.org/officeDocument/2006/relationships/image" Target="../media/image7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640080" y="822960"/>
            <a:ext cx="10908792" cy="5303520"/>
          </a:xfrm>
          <a:prstGeom prst="roundRect">
            <a:avLst>
              <a:gd name="adj" fmla="val 1724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2E8F0"/>
            </a:solidFill>
            <a:prstDash val="solid"/>
          </a:ln>
          <a:effectLst>
            <a:outerShdw blurRad="20320" dist="508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iberin_logo_tri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491" y="1143000"/>
            <a:ext cx="4012259" cy="1280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49040" y="2514600"/>
            <a:ext cx="4681728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3632" y="2587752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0" y="2587752"/>
            <a:ext cx="4151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&amp; DIGITAL ENGINEERING CAPABILITIES</a:t>
            </a:r>
            <a:endParaRPr lang="en-US" sz="760" dirty="0"/>
          </a:p>
        </p:txBody>
      </p:sp>
      <p:sp>
        <p:nvSpPr>
          <p:cNvPr id="13" name="Text 8"/>
          <p:cNvSpPr/>
          <p:nvPr/>
        </p:nvSpPr>
        <p:spPr>
          <a:xfrm>
            <a:off x="1463040" y="3035808"/>
            <a:ext cx="9281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Purpose-built AI. Product engineering. Quality at scale.</a:t>
            </a:r>
            <a:endParaRPr lang="en-US" sz="2900" dirty="0"/>
          </a:p>
        </p:txBody>
      </p:sp>
      <p:sp>
        <p:nvSpPr>
          <p:cNvPr id="14" name="Text 9"/>
          <p:cNvSpPr/>
          <p:nvPr/>
        </p:nvSpPr>
        <p:spPr>
          <a:xfrm>
            <a:off x="1920240" y="3730752"/>
            <a:ext cx="8366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capabilities overview spanning AI/ML, cloud-native engineering, quality assurance, data &amp; analytics, IoT and enterprise support.</a:t>
            </a:r>
            <a:endParaRPr lang="en-US" sz="1220" dirty="0"/>
          </a:p>
        </p:txBody>
      </p:sp>
      <p:sp>
        <p:nvSpPr>
          <p:cNvPr id="15" name="Shape 10"/>
          <p:cNvSpPr/>
          <p:nvPr/>
        </p:nvSpPr>
        <p:spPr>
          <a:xfrm>
            <a:off x="1938528" y="452628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2103120" y="4663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6513" y="4746833"/>
            <a:ext cx="180685" cy="1806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551176" y="4727448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 &amp; GenAI</a:t>
            </a:r>
            <a:endParaRPr lang="en-US" sz="820" dirty="0"/>
          </a:p>
        </p:txBody>
      </p:sp>
      <p:sp>
        <p:nvSpPr>
          <p:cNvPr id="19" name="Shape 13"/>
          <p:cNvSpPr/>
          <p:nvPr/>
        </p:nvSpPr>
        <p:spPr>
          <a:xfrm>
            <a:off x="4133088" y="452628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297680" y="4663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073" y="4746833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45736" y="4727448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Engineering</a:t>
            </a:r>
            <a:endParaRPr lang="en-US" sz="820" dirty="0"/>
          </a:p>
        </p:txBody>
      </p:sp>
      <p:sp>
        <p:nvSpPr>
          <p:cNvPr id="23" name="Shape 16"/>
          <p:cNvSpPr/>
          <p:nvPr/>
        </p:nvSpPr>
        <p:spPr>
          <a:xfrm>
            <a:off x="6327648" y="452628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6492240" y="4663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5633" y="4746833"/>
            <a:ext cx="180685" cy="18068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0296" y="4727448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Engineering</a:t>
            </a:r>
            <a:endParaRPr lang="en-US" sz="820" dirty="0"/>
          </a:p>
        </p:txBody>
      </p:sp>
      <p:sp>
        <p:nvSpPr>
          <p:cNvPr id="27" name="Shape 19"/>
          <p:cNvSpPr/>
          <p:nvPr/>
        </p:nvSpPr>
        <p:spPr>
          <a:xfrm>
            <a:off x="8522208" y="452628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8686800" y="4663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70193" y="4746833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34856" y="4727448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Cloud &amp; IoT</a:t>
            </a:r>
            <a:endParaRPr lang="en-US" sz="820" dirty="0"/>
          </a:p>
        </p:txBody>
      </p:sp>
      <p:sp>
        <p:nvSpPr>
          <p:cNvPr id="31" name="Text 22"/>
          <p:cNvSpPr/>
          <p:nvPr/>
        </p:nvSpPr>
        <p:spPr>
          <a:xfrm>
            <a:off x="4251960" y="5705856"/>
            <a:ext cx="3703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www.liberintechnologies.com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SNAPSHOT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at a Glance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Consulting • Engineering • Operations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0848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8064000" dist="645160000"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4447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85800" y="24597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kern="0" spc="8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713232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and scaling digital products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2779776" y="1783080"/>
            <a:ext cx="20848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79776" y="1783080"/>
            <a:ext cx="45720" cy="14447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962656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75+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2916936" y="24597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kern="0" spc="8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TECHNOLOGISTS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2944368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Cross-functional product and engineering talent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010912" y="1783080"/>
            <a:ext cx="20848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10912" y="1783080"/>
            <a:ext cx="45720" cy="1444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193792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5148072" y="24597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kern="0" spc="8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</a:t>
            </a:r>
            <a:endParaRPr lang="en-US" sz="740" dirty="0"/>
          </a:p>
        </p:txBody>
      </p:sp>
      <p:sp>
        <p:nvSpPr>
          <p:cNvPr id="27" name="Text 24"/>
          <p:cNvSpPr/>
          <p:nvPr/>
        </p:nvSpPr>
        <p:spPr>
          <a:xfrm>
            <a:off x="5175504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 customers across multiple markets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7242048" y="1783080"/>
            <a:ext cx="20848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242048" y="1783080"/>
            <a:ext cx="45720" cy="1444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424928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7379208" y="24597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kern="0" spc="8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INDUSTRIES</a:t>
            </a:r>
            <a:endParaRPr lang="en-US" sz="740" dirty="0"/>
          </a:p>
        </p:txBody>
      </p:sp>
      <p:sp>
        <p:nvSpPr>
          <p:cNvPr id="32" name="Text 29"/>
          <p:cNvSpPr/>
          <p:nvPr/>
        </p:nvSpPr>
        <p:spPr>
          <a:xfrm>
            <a:off x="7406640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BFSI and logistics to retail and utilities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9473184" y="1783080"/>
            <a:ext cx="20848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473184" y="1783080"/>
            <a:ext cx="45720" cy="14447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656064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700" dirty="0"/>
          </a:p>
        </p:txBody>
      </p:sp>
      <p:sp>
        <p:nvSpPr>
          <p:cNvPr id="36" name="Text 33"/>
          <p:cNvSpPr/>
          <p:nvPr/>
        </p:nvSpPr>
        <p:spPr>
          <a:xfrm>
            <a:off x="9610344" y="24597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kern="0" spc="8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AREAS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9637776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Cloud, AI/ML, web/mobile, QA, DevOps, IoT &amp; BI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548640" y="3529584"/>
            <a:ext cx="1100937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04672" y="3794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experience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04672" y="4224528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77824" y="4306824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Banking, Finance &amp; Insurance</a:t>
            </a:r>
            <a:endParaRPr lang="en-US" sz="720" dirty="0"/>
          </a:p>
        </p:txBody>
      </p:sp>
      <p:sp>
        <p:nvSpPr>
          <p:cNvPr id="42" name="Shape 39"/>
          <p:cNvSpPr/>
          <p:nvPr/>
        </p:nvSpPr>
        <p:spPr>
          <a:xfrm>
            <a:off x="3300984" y="4224528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374136" y="4306824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Transportation &amp; Logistics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5797296" y="4224528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870448" y="4306824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</a:t>
            </a:r>
            <a:endParaRPr lang="en-US" sz="720" dirty="0"/>
          </a:p>
        </p:txBody>
      </p:sp>
      <p:sp>
        <p:nvSpPr>
          <p:cNvPr id="46" name="Shape 43"/>
          <p:cNvSpPr/>
          <p:nvPr/>
        </p:nvSpPr>
        <p:spPr>
          <a:xfrm>
            <a:off x="8293608" y="4224528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366760" y="4306824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</a:t>
            </a:r>
            <a:endParaRPr lang="en-US" sz="720" dirty="0"/>
          </a:p>
        </p:txBody>
      </p:sp>
      <p:sp>
        <p:nvSpPr>
          <p:cNvPr id="48" name="Shape 45"/>
          <p:cNvSpPr/>
          <p:nvPr/>
        </p:nvSpPr>
        <p:spPr>
          <a:xfrm>
            <a:off x="804672" y="4663440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77824" y="4745736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Oil &amp; Gas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3300984" y="4663440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374136" y="4745736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5797296" y="4663440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870448" y="4745736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Technology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8293608" y="4663440"/>
            <a:ext cx="2240280" cy="265176"/>
          </a:xfrm>
          <a:prstGeom prst="roundRect">
            <a:avLst>
              <a:gd name="adj" fmla="val 24138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8366760" y="4745736"/>
            <a:ext cx="2093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&amp; ITES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804672" y="5193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focus areas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804672" y="5504688"/>
            <a:ext cx="2331720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877824" y="5586984"/>
            <a:ext cx="21854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Cloud Applications</a:t>
            </a:r>
            <a:endParaRPr lang="en-US" sz="720" dirty="0"/>
          </a:p>
        </p:txBody>
      </p:sp>
      <p:sp>
        <p:nvSpPr>
          <p:cNvPr id="59" name="Shape 56"/>
          <p:cNvSpPr/>
          <p:nvPr/>
        </p:nvSpPr>
        <p:spPr>
          <a:xfrm>
            <a:off x="3282696" y="5504688"/>
            <a:ext cx="1325880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355848" y="5586984"/>
            <a:ext cx="11795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754880" y="5504688"/>
            <a:ext cx="2148840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4828032" y="5586984"/>
            <a:ext cx="200253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&amp; Mobile Applications</a:t>
            </a:r>
            <a:endParaRPr lang="en-US" sz="720" dirty="0"/>
          </a:p>
        </p:txBody>
      </p:sp>
      <p:sp>
        <p:nvSpPr>
          <p:cNvPr id="63" name="Shape 60"/>
          <p:cNvSpPr/>
          <p:nvPr/>
        </p:nvSpPr>
        <p:spPr>
          <a:xfrm>
            <a:off x="7050024" y="5504688"/>
            <a:ext cx="1627632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123176" y="5586984"/>
            <a:ext cx="148132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Engineering</a:t>
            </a:r>
            <a:endParaRPr lang="en-US" sz="720" dirty="0"/>
          </a:p>
        </p:txBody>
      </p:sp>
      <p:sp>
        <p:nvSpPr>
          <p:cNvPr id="65" name="Shape 62"/>
          <p:cNvSpPr/>
          <p:nvPr/>
        </p:nvSpPr>
        <p:spPr>
          <a:xfrm>
            <a:off x="804672" y="5824728"/>
            <a:ext cx="1234440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877824" y="5907024"/>
            <a:ext cx="108813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</a:t>
            </a:r>
            <a:endParaRPr lang="en-US" sz="720" dirty="0"/>
          </a:p>
        </p:txBody>
      </p:sp>
      <p:sp>
        <p:nvSpPr>
          <p:cNvPr id="67" name="Shape 64"/>
          <p:cNvSpPr/>
          <p:nvPr/>
        </p:nvSpPr>
        <p:spPr>
          <a:xfrm>
            <a:off x="2185416" y="5824728"/>
            <a:ext cx="1005840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2258568" y="5907024"/>
            <a:ext cx="85953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3337560" y="582472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3410712" y="5907024"/>
            <a:ext cx="227685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 &amp; Analytics</a:t>
            </a:r>
            <a:endParaRPr lang="en-US" sz="720" dirty="0"/>
          </a:p>
        </p:txBody>
      </p:sp>
      <p:sp>
        <p:nvSpPr>
          <p:cNvPr id="71" name="Shape 68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02 OF 15  |  COMPANY SNAPSHOT</a:t>
            </a:r>
            <a:endParaRPr lang="en-US" sz="680" dirty="0"/>
          </a:p>
        </p:txBody>
      </p:sp>
      <p:pic>
        <p:nvPicPr>
          <p:cNvPr id="73" name="Image 1" descr="/mnt/data/liberin_logo_tri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 MAP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Digital &amp; Engineering Capabilities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→ Build → Assure → Run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1214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980" y="2076420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19842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Architecture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749808" y="244144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 &amp; architecture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architecture consulting &amp; roadmap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consulting and technology selection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2779776" y="1783080"/>
            <a:ext cx="21214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779776" y="178308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980944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3116" y="2076420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93008" y="19842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Engineering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2980944" y="244144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modernization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&amp; API-driven systems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Web, mobile, UX/UI and cloud-native development</a:t>
            </a:r>
            <a:endParaRPr lang="en-US" sz="870" dirty="0"/>
          </a:p>
        </p:txBody>
      </p:sp>
      <p:sp>
        <p:nvSpPr>
          <p:cNvPr id="25" name="Shape 20"/>
          <p:cNvSpPr/>
          <p:nvPr/>
        </p:nvSpPr>
        <p:spPr>
          <a:xfrm>
            <a:off x="5010912" y="1783080"/>
            <a:ext cx="21214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010912" y="1783080"/>
            <a:ext cx="45720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212080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4252" y="2076420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24144" y="19842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AI, Data &amp; Analytics</a:t>
            </a:r>
            <a:endParaRPr lang="en-US" sz="1220" dirty="0"/>
          </a:p>
        </p:txBody>
      </p:sp>
      <p:sp>
        <p:nvSpPr>
          <p:cNvPr id="30" name="Text 24"/>
          <p:cNvSpPr/>
          <p:nvPr/>
        </p:nvSpPr>
        <p:spPr>
          <a:xfrm>
            <a:off x="5212080" y="244144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integration &amp; management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 and anomaly detection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Recommendations, video &amp; real-time analytics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7242048" y="1783080"/>
            <a:ext cx="21214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242048" y="1783080"/>
            <a:ext cx="45720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43216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5388" y="2076420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955280" y="19842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Engineering</a:t>
            </a:r>
            <a:endParaRPr lang="en-US" sz="1220" dirty="0"/>
          </a:p>
        </p:txBody>
      </p:sp>
      <p:sp>
        <p:nvSpPr>
          <p:cNvPr id="36" name="Text 29"/>
          <p:cNvSpPr/>
          <p:nvPr/>
        </p:nvSpPr>
        <p:spPr>
          <a:xfrm>
            <a:off x="7443216" y="244144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consulting and assessment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strategy, frameworks &amp; rollout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Functional, performance and security testing</a:t>
            </a:r>
            <a:endParaRPr lang="en-US" sz="870" dirty="0"/>
          </a:p>
        </p:txBody>
      </p:sp>
      <p:sp>
        <p:nvSpPr>
          <p:cNvPr id="37" name="Shape 30"/>
          <p:cNvSpPr/>
          <p:nvPr/>
        </p:nvSpPr>
        <p:spPr>
          <a:xfrm>
            <a:off x="9473184" y="1783080"/>
            <a:ext cx="208483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9473184" y="1783080"/>
            <a:ext cx="45720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9674352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6524" y="2076420"/>
            <a:ext cx="199705" cy="19970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186416" y="19842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&amp; Operations</a:t>
            </a:r>
            <a:endParaRPr lang="en-US" sz="1220" dirty="0"/>
          </a:p>
        </p:txBody>
      </p:sp>
      <p:sp>
        <p:nvSpPr>
          <p:cNvPr id="42" name="Text 34"/>
          <p:cNvSpPr/>
          <p:nvPr/>
        </p:nvSpPr>
        <p:spPr>
          <a:xfrm>
            <a:off x="9674352" y="2441448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L2/L3 application support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monitoring &amp; infrastructure management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maintenance services</a:t>
            </a:r>
            <a:endParaRPr lang="en-US" sz="870" dirty="0"/>
          </a:p>
        </p:txBody>
      </p:sp>
      <p:sp>
        <p:nvSpPr>
          <p:cNvPr id="43" name="Shape 35"/>
          <p:cNvSpPr/>
          <p:nvPr/>
        </p:nvSpPr>
        <p:spPr>
          <a:xfrm>
            <a:off x="548640" y="3913632"/>
            <a:ext cx="11009376" cy="2084832"/>
          </a:xfrm>
          <a:prstGeom prst="roundRect">
            <a:avLst>
              <a:gd name="adj" fmla="val 2632"/>
            </a:avLst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841248" y="42245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engineering partner across the product lifecycle</a:t>
            </a:r>
            <a:endParaRPr lang="en-US" sz="1850" dirty="0"/>
          </a:p>
        </p:txBody>
      </p:sp>
      <p:sp>
        <p:nvSpPr>
          <p:cNvPr id="45" name="Text 37"/>
          <p:cNvSpPr/>
          <p:nvPr/>
        </p:nvSpPr>
        <p:spPr>
          <a:xfrm>
            <a:off x="841248" y="4663440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Liberin’s source decks position the company across consulting, product engineering, AI/data, digital assurance and ongoing operations—with the ability to engage from targeted modules through end-to-end ownership.</a:t>
            </a:r>
            <a:endParaRPr lang="en-US" sz="1010" dirty="0"/>
          </a:p>
        </p:txBody>
      </p:sp>
      <p:sp>
        <p:nvSpPr>
          <p:cNvPr id="46" name="Shape 38"/>
          <p:cNvSpPr/>
          <p:nvPr/>
        </p:nvSpPr>
        <p:spPr>
          <a:xfrm>
            <a:off x="6839712" y="4261104"/>
            <a:ext cx="585216" cy="58521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3448" y="4434840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693408" y="500176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700" dirty="0"/>
          </a:p>
        </p:txBody>
      </p:sp>
      <p:sp>
        <p:nvSpPr>
          <p:cNvPr id="49" name="Shape 40"/>
          <p:cNvSpPr/>
          <p:nvPr/>
        </p:nvSpPr>
        <p:spPr>
          <a:xfrm>
            <a:off x="7452360" y="4553712"/>
            <a:ext cx="49377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7863840" y="4261104"/>
            <a:ext cx="585216" cy="5852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7576" y="4434840"/>
            <a:ext cx="237744" cy="23774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717536" y="500176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700" dirty="0"/>
          </a:p>
        </p:txBody>
      </p:sp>
      <p:sp>
        <p:nvSpPr>
          <p:cNvPr id="53" name="Shape 43"/>
          <p:cNvSpPr/>
          <p:nvPr/>
        </p:nvSpPr>
        <p:spPr>
          <a:xfrm>
            <a:off x="8476488" y="4553712"/>
            <a:ext cx="49377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4"/>
          <p:cNvSpPr/>
          <p:nvPr/>
        </p:nvSpPr>
        <p:spPr>
          <a:xfrm>
            <a:off x="8887968" y="4261104"/>
            <a:ext cx="585216" cy="58521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61704" y="4434840"/>
            <a:ext cx="237744" cy="237744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741664" y="500176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700" dirty="0"/>
          </a:p>
        </p:txBody>
      </p:sp>
      <p:sp>
        <p:nvSpPr>
          <p:cNvPr id="57" name="Shape 46"/>
          <p:cNvSpPr/>
          <p:nvPr/>
        </p:nvSpPr>
        <p:spPr>
          <a:xfrm>
            <a:off x="9500616" y="4553712"/>
            <a:ext cx="49377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9912096" y="4261104"/>
            <a:ext cx="585216" cy="5852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85832" y="4434840"/>
            <a:ext cx="237744" cy="237744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9765792" y="500176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ASSURE</a:t>
            </a:r>
            <a:endParaRPr lang="en-US" sz="700" dirty="0"/>
          </a:p>
        </p:txBody>
      </p:sp>
      <p:sp>
        <p:nvSpPr>
          <p:cNvPr id="61" name="Shape 49"/>
          <p:cNvSpPr/>
          <p:nvPr/>
        </p:nvSpPr>
        <p:spPr>
          <a:xfrm>
            <a:off x="10524744" y="4553712"/>
            <a:ext cx="49377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0"/>
          <p:cNvSpPr/>
          <p:nvPr/>
        </p:nvSpPr>
        <p:spPr>
          <a:xfrm>
            <a:off x="10936224" y="4261104"/>
            <a:ext cx="585216" cy="58521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09960" y="4434840"/>
            <a:ext cx="237744" cy="237744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10789920" y="500176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700" dirty="0"/>
          </a:p>
        </p:txBody>
      </p:sp>
      <p:sp>
        <p:nvSpPr>
          <p:cNvPr id="65" name="Shape 52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3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03 OF 15  |  CAPABILITIES MAP</a:t>
            </a:r>
            <a:endParaRPr lang="en-US" sz="680" dirty="0"/>
          </a:p>
        </p:txBody>
      </p:sp>
      <p:pic>
        <p:nvPicPr>
          <p:cNvPr id="67" name="Image 11" descr="/mnt/data/liberin_logo_trimm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Purpose-Built AI, Not Generic AI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SEPTA philosophy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3703320" cy="4160520"/>
          </a:xfrm>
          <a:prstGeom prst="roundRect">
            <a:avLst>
              <a:gd name="adj" fmla="val 1481"/>
            </a:avLst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9536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generic AI stalls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9536" y="2670048"/>
            <a:ext cx="3035808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demos rather than business workflows</a:t>
            </a:r>
            <a:endParaRPr lang="en-US" sz="1030" dirty="0"/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questions without understanding business goals</a:t>
            </a:r>
            <a:endParaRPr lang="en-US" sz="1030" dirty="0"/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Lacks adaptability, explainability and accountability</a:t>
            </a:r>
            <a:endParaRPr lang="en-US" sz="1030" dirty="0"/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One-size-fits-all rarely fits enterprise context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859536" y="5184648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5340096"/>
            <a:ext cx="2578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goal: business outcomes, not endless POCs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4526280" y="1783080"/>
            <a:ext cx="703173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26280" y="1783080"/>
            <a:ext cx="45720" cy="87782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36592" y="201168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0958" y="2106046"/>
            <a:ext cx="204460" cy="2044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85232" y="1975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Purpose-Built</a:t>
            </a:r>
            <a:endParaRPr lang="en-US" sz="1240" dirty="0"/>
          </a:p>
        </p:txBody>
      </p:sp>
      <p:sp>
        <p:nvSpPr>
          <p:cNvPr id="23" name="Text 19"/>
          <p:cNvSpPr/>
          <p:nvPr/>
        </p:nvSpPr>
        <p:spPr>
          <a:xfrm>
            <a:off x="7178040" y="19476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objectives, workflows, data and domain terminology.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4526280" y="2807208"/>
            <a:ext cx="703173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526280" y="2807208"/>
            <a:ext cx="45720" cy="87782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736592" y="3035808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0958" y="3130174"/>
            <a:ext cx="204460" cy="2044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85232" y="2999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for Enterprise</a:t>
            </a:r>
            <a:endParaRPr lang="en-US" sz="1240" dirty="0"/>
          </a:p>
        </p:txBody>
      </p:sp>
      <p:sp>
        <p:nvSpPr>
          <p:cNvPr id="29" name="Text 24"/>
          <p:cNvSpPr/>
          <p:nvPr/>
        </p:nvSpPr>
        <p:spPr>
          <a:xfrm>
            <a:off x="7178040" y="297180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diverse/high volumes of data, complexity and enterprise-grade security.</a:t>
            </a:r>
            <a:endParaRPr lang="en-US" sz="880" dirty="0"/>
          </a:p>
        </p:txBody>
      </p:sp>
      <p:sp>
        <p:nvSpPr>
          <p:cNvPr id="30" name="Shape 25"/>
          <p:cNvSpPr/>
          <p:nvPr/>
        </p:nvSpPr>
        <p:spPr>
          <a:xfrm>
            <a:off x="4526280" y="3831336"/>
            <a:ext cx="703173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526280" y="3831336"/>
            <a:ext cx="45720" cy="877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736592" y="405993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0958" y="4154302"/>
            <a:ext cx="204460" cy="2044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85232" y="40233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Time-to-Value</a:t>
            </a:r>
            <a:endParaRPr lang="en-US" sz="1240" dirty="0"/>
          </a:p>
        </p:txBody>
      </p:sp>
      <p:sp>
        <p:nvSpPr>
          <p:cNvPr id="35" name="Text 29"/>
          <p:cNvSpPr/>
          <p:nvPr/>
        </p:nvSpPr>
        <p:spPr>
          <a:xfrm>
            <a:off x="7178040" y="3995928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to deploy, easy to integrate and designed for iterative improvement.</a:t>
            </a:r>
            <a:endParaRPr lang="en-US" sz="880" dirty="0"/>
          </a:p>
        </p:txBody>
      </p:sp>
      <p:sp>
        <p:nvSpPr>
          <p:cNvPr id="36" name="Shape 30"/>
          <p:cNvSpPr/>
          <p:nvPr/>
        </p:nvSpPr>
        <p:spPr>
          <a:xfrm>
            <a:off x="4526280" y="4855464"/>
            <a:ext cx="703173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4526280" y="4855464"/>
            <a:ext cx="45720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736592" y="508406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0958" y="5178430"/>
            <a:ext cx="204460" cy="2044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285232" y="50474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Adaptable &amp; Transparent</a:t>
            </a:r>
            <a:endParaRPr lang="en-US" sz="1240" dirty="0"/>
          </a:p>
        </p:txBody>
      </p:sp>
      <p:sp>
        <p:nvSpPr>
          <p:cNvPr id="41" name="Text 34"/>
          <p:cNvSpPr/>
          <p:nvPr/>
        </p:nvSpPr>
        <p:spPr>
          <a:xfrm>
            <a:off x="7178040" y="5020056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review, feedback loops and configurable business rules.</a:t>
            </a:r>
            <a:endParaRPr lang="en-US" sz="880" dirty="0"/>
          </a:p>
        </p:txBody>
      </p:sp>
      <p:sp>
        <p:nvSpPr>
          <p:cNvPr id="42" name="Shape 35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04 OF 15  |  ENTERPRISE AI</a:t>
            </a:r>
            <a:endParaRPr lang="en-US" sz="680" dirty="0"/>
          </a:p>
        </p:txBody>
      </p:sp>
      <p:pic>
        <p:nvPicPr>
          <p:cNvPr id="44" name="Image 5" descr="/mnt/data/liberin_logo_trimm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SEPTA PLATFORM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Modular AI Platform Engineered for Business Needs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→ Intelligence → Action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847088"/>
            <a:ext cx="35204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847088"/>
            <a:ext cx="45720" cy="14264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2048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980" y="2140428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Base Management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749808" y="2505456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Organizes structured and unstructured data for accurate, contextual responses.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4297680" y="1847088"/>
            <a:ext cx="35204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97680" y="1847088"/>
            <a:ext cx="45720" cy="1426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498848" y="2048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1020" y="2140428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10912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Integration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4498848" y="2505456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files, databases, APIs, communication tools and web sources.</a:t>
            </a:r>
            <a:endParaRPr lang="en-US" sz="870" dirty="0"/>
          </a:p>
        </p:txBody>
      </p:sp>
      <p:sp>
        <p:nvSpPr>
          <p:cNvPr id="25" name="Shape 20"/>
          <p:cNvSpPr/>
          <p:nvPr/>
        </p:nvSpPr>
        <p:spPr>
          <a:xfrm>
            <a:off x="8046720" y="1847088"/>
            <a:ext cx="35204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046720" y="1847088"/>
            <a:ext cx="45720" cy="14264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247888" y="2048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0060" y="2140428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59952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– Text &amp; Voice</a:t>
            </a:r>
            <a:endParaRPr lang="en-US" sz="1220" dirty="0"/>
          </a:p>
        </p:txBody>
      </p:sp>
      <p:sp>
        <p:nvSpPr>
          <p:cNvPr id="30" name="Text 24"/>
          <p:cNvSpPr/>
          <p:nvPr/>
        </p:nvSpPr>
        <p:spPr>
          <a:xfrm>
            <a:off x="8247888" y="2505456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chat and voice experiences for internal and external users.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548640" y="3493008"/>
            <a:ext cx="35204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548640" y="3493008"/>
            <a:ext cx="45720" cy="14264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9808" y="36941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980" y="3786348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61872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220" dirty="0"/>
          </a:p>
        </p:txBody>
      </p:sp>
      <p:sp>
        <p:nvSpPr>
          <p:cNvPr id="36" name="Text 29"/>
          <p:cNvSpPr/>
          <p:nvPr/>
        </p:nvSpPr>
        <p:spPr>
          <a:xfrm>
            <a:off x="749808" y="4151376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and reporting on interactions, data gaps and performance trends.</a:t>
            </a:r>
            <a:endParaRPr lang="en-US" sz="870" dirty="0"/>
          </a:p>
        </p:txBody>
      </p:sp>
      <p:sp>
        <p:nvSpPr>
          <p:cNvPr id="37" name="Shape 30"/>
          <p:cNvSpPr/>
          <p:nvPr/>
        </p:nvSpPr>
        <p:spPr>
          <a:xfrm>
            <a:off x="4297680" y="3493008"/>
            <a:ext cx="35204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4297680" y="3493008"/>
            <a:ext cx="45720" cy="14264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498848" y="36941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1020" y="3786348"/>
            <a:ext cx="199705" cy="19970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10912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Creation</a:t>
            </a:r>
            <a:endParaRPr lang="en-US" sz="1220" dirty="0"/>
          </a:p>
        </p:txBody>
      </p:sp>
      <p:sp>
        <p:nvSpPr>
          <p:cNvPr id="42" name="Text 34"/>
          <p:cNvSpPr/>
          <p:nvPr/>
        </p:nvSpPr>
        <p:spPr>
          <a:xfrm>
            <a:off x="4498848" y="4151376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Business-ready content for reports, communication and marketing.</a:t>
            </a:r>
            <a:endParaRPr lang="en-US" sz="870" dirty="0"/>
          </a:p>
        </p:txBody>
      </p:sp>
      <p:sp>
        <p:nvSpPr>
          <p:cNvPr id="43" name="Shape 35"/>
          <p:cNvSpPr/>
          <p:nvPr/>
        </p:nvSpPr>
        <p:spPr>
          <a:xfrm>
            <a:off x="8046720" y="3493008"/>
            <a:ext cx="35204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8046720" y="3493008"/>
            <a:ext cx="45720" cy="14264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8247888" y="36941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0060" y="3786348"/>
            <a:ext cx="199705" cy="199705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759952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220" dirty="0"/>
          </a:p>
        </p:txBody>
      </p:sp>
      <p:sp>
        <p:nvSpPr>
          <p:cNvPr id="48" name="Text 39"/>
          <p:cNvSpPr/>
          <p:nvPr/>
        </p:nvSpPr>
        <p:spPr>
          <a:xfrm>
            <a:off x="8247888" y="4151376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defined tasks and workflows—from alerts to system updates.</a:t>
            </a:r>
            <a:endParaRPr lang="en-US" sz="870" dirty="0"/>
          </a:p>
        </p:txBody>
      </p:sp>
      <p:sp>
        <p:nvSpPr>
          <p:cNvPr id="49" name="Shape 40"/>
          <p:cNvSpPr/>
          <p:nvPr/>
        </p:nvSpPr>
        <p:spPr>
          <a:xfrm>
            <a:off x="548640" y="5230368"/>
            <a:ext cx="11009376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804672" y="54498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SEPTA capabilities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2176272" y="5413248"/>
            <a:ext cx="1078992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2249424" y="5495544"/>
            <a:ext cx="932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Search</a:t>
            </a:r>
            <a:endParaRPr lang="en-US" sz="720" dirty="0"/>
          </a:p>
        </p:txBody>
      </p:sp>
      <p:sp>
        <p:nvSpPr>
          <p:cNvPr id="53" name="Shape 44"/>
          <p:cNvSpPr/>
          <p:nvPr/>
        </p:nvSpPr>
        <p:spPr>
          <a:xfrm>
            <a:off x="3337560" y="5413248"/>
            <a:ext cx="1298448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/>
          <p:nvPr/>
        </p:nvSpPr>
        <p:spPr>
          <a:xfrm>
            <a:off x="3410712" y="5495544"/>
            <a:ext cx="115214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&amp; Analytics</a:t>
            </a:r>
            <a:endParaRPr lang="en-US" sz="720" dirty="0"/>
          </a:p>
        </p:txBody>
      </p:sp>
      <p:sp>
        <p:nvSpPr>
          <p:cNvPr id="55" name="Shape 46"/>
          <p:cNvSpPr/>
          <p:nvPr/>
        </p:nvSpPr>
        <p:spPr>
          <a:xfrm>
            <a:off x="4718304" y="5413248"/>
            <a:ext cx="1078992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/>
          <p:nvPr/>
        </p:nvSpPr>
        <p:spPr>
          <a:xfrm>
            <a:off x="4791456" y="5495544"/>
            <a:ext cx="932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Support</a:t>
            </a:r>
            <a:endParaRPr lang="en-US" sz="720" dirty="0"/>
          </a:p>
        </p:txBody>
      </p:sp>
      <p:sp>
        <p:nvSpPr>
          <p:cNvPr id="57" name="Shape 48"/>
          <p:cNvSpPr/>
          <p:nvPr/>
        </p:nvSpPr>
        <p:spPr>
          <a:xfrm>
            <a:off x="5879592" y="5413248"/>
            <a:ext cx="1078992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/>
          <p:nvPr/>
        </p:nvSpPr>
        <p:spPr>
          <a:xfrm>
            <a:off x="5952744" y="5495544"/>
            <a:ext cx="932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Marketing</a:t>
            </a:r>
            <a:endParaRPr lang="en-US" sz="720" dirty="0"/>
          </a:p>
        </p:txBody>
      </p:sp>
      <p:sp>
        <p:nvSpPr>
          <p:cNvPr id="59" name="Shape 50"/>
          <p:cNvSpPr/>
          <p:nvPr/>
        </p:nvSpPr>
        <p:spPr>
          <a:xfrm>
            <a:off x="7040880" y="5413248"/>
            <a:ext cx="1078992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/>
          <p:nvPr/>
        </p:nvSpPr>
        <p:spPr>
          <a:xfrm>
            <a:off x="7114032" y="5495544"/>
            <a:ext cx="932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Support</a:t>
            </a:r>
            <a:endParaRPr lang="en-US" sz="720" dirty="0"/>
          </a:p>
        </p:txBody>
      </p:sp>
      <p:sp>
        <p:nvSpPr>
          <p:cNvPr id="61" name="Shape 52"/>
          <p:cNvSpPr/>
          <p:nvPr/>
        </p:nvSpPr>
        <p:spPr>
          <a:xfrm>
            <a:off x="8202168" y="5413248"/>
            <a:ext cx="1078992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/>
          <p:nvPr/>
        </p:nvSpPr>
        <p:spPr>
          <a:xfrm>
            <a:off x="8275320" y="5495544"/>
            <a:ext cx="932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</a:t>
            </a:r>
            <a:endParaRPr lang="en-US" sz="720" dirty="0"/>
          </a:p>
        </p:txBody>
      </p:sp>
      <p:sp>
        <p:nvSpPr>
          <p:cNvPr id="63" name="Shape 54"/>
          <p:cNvSpPr/>
          <p:nvPr/>
        </p:nvSpPr>
        <p:spPr>
          <a:xfrm>
            <a:off x="9363456" y="5413248"/>
            <a:ext cx="1298448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5"/>
          <p:cNvSpPr/>
          <p:nvPr/>
        </p:nvSpPr>
        <p:spPr>
          <a:xfrm>
            <a:off x="9436608" y="5495544"/>
            <a:ext cx="115214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&amp; Execution</a:t>
            </a:r>
            <a:endParaRPr lang="en-US" sz="720" dirty="0"/>
          </a:p>
        </p:txBody>
      </p:sp>
      <p:sp>
        <p:nvSpPr>
          <p:cNvPr id="65" name="Shape 56"/>
          <p:cNvSpPr/>
          <p:nvPr/>
        </p:nvSpPr>
        <p:spPr>
          <a:xfrm>
            <a:off x="10744200" y="5413248"/>
            <a:ext cx="1078992" cy="265176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7"/>
          <p:cNvSpPr/>
          <p:nvPr/>
        </p:nvSpPr>
        <p:spPr>
          <a:xfrm>
            <a:off x="10817352" y="5495544"/>
            <a:ext cx="932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Creation</a:t>
            </a:r>
            <a:endParaRPr lang="en-US" sz="720" dirty="0"/>
          </a:p>
        </p:txBody>
      </p:sp>
      <p:sp>
        <p:nvSpPr>
          <p:cNvPr id="67" name="Shape 58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05 OF 15  |  SEPTA PLATFORM</a:t>
            </a:r>
            <a:endParaRPr lang="en-US" sz="680" dirty="0"/>
          </a:p>
        </p:txBody>
      </p:sp>
      <p:pic>
        <p:nvPicPr>
          <p:cNvPr id="69" name="Image 7" descr="/mnt/data/liberin_logo_trimm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 CASES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Assistants Tailored for Roles Across the Enterprise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+ enterprise context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35204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5361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980" y="2076420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Agent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749808" y="2441448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interactions through AI chatbots and voice bots; improves response time and scale.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4297680" y="1783080"/>
            <a:ext cx="35204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97680" y="1783080"/>
            <a:ext cx="45720" cy="15361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49884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1020" y="2076420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10912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CxO Assistant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4498848" y="2441448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business snapshots, KPI tracking and strategic insights for faster decisions.</a:t>
            </a:r>
            <a:endParaRPr lang="en-US" sz="870" dirty="0"/>
          </a:p>
        </p:txBody>
      </p:sp>
      <p:sp>
        <p:nvSpPr>
          <p:cNvPr id="25" name="Shape 20"/>
          <p:cNvSpPr/>
          <p:nvPr/>
        </p:nvSpPr>
        <p:spPr>
          <a:xfrm>
            <a:off x="8046720" y="1783080"/>
            <a:ext cx="35204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046720" y="1783080"/>
            <a:ext cx="45720" cy="1536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24788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0060" y="2076420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59952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Analyst</a:t>
            </a:r>
            <a:endParaRPr lang="en-US" sz="1220" dirty="0"/>
          </a:p>
        </p:txBody>
      </p:sp>
      <p:sp>
        <p:nvSpPr>
          <p:cNvPr id="30" name="Text 24"/>
          <p:cNvSpPr/>
          <p:nvPr/>
        </p:nvSpPr>
        <p:spPr>
          <a:xfrm>
            <a:off x="8247888" y="2441448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reports, analytics summaries and actionable insights through natural language.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548640" y="3538728"/>
            <a:ext cx="35204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548640" y="3538728"/>
            <a:ext cx="45720" cy="15361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9808" y="37398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980" y="3832068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61872" y="37398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Assistant</a:t>
            </a:r>
            <a:endParaRPr lang="en-US" sz="1220" dirty="0"/>
          </a:p>
        </p:txBody>
      </p:sp>
      <p:sp>
        <p:nvSpPr>
          <p:cNvPr id="36" name="Text 29"/>
          <p:cNvSpPr/>
          <p:nvPr/>
        </p:nvSpPr>
        <p:spPr>
          <a:xfrm>
            <a:off x="749808" y="419709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guidance, account intelligence and recommended next steps.</a:t>
            </a:r>
            <a:endParaRPr lang="en-US" sz="870" dirty="0"/>
          </a:p>
        </p:txBody>
      </p:sp>
      <p:sp>
        <p:nvSpPr>
          <p:cNvPr id="37" name="Shape 30"/>
          <p:cNvSpPr/>
          <p:nvPr/>
        </p:nvSpPr>
        <p:spPr>
          <a:xfrm>
            <a:off x="4297680" y="3538728"/>
            <a:ext cx="35204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4297680" y="3538728"/>
            <a:ext cx="45720" cy="15361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498848" y="37398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1020" y="3832068"/>
            <a:ext cx="199705" cy="19970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10912" y="37398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Assistant</a:t>
            </a:r>
            <a:endParaRPr lang="en-US" sz="1220" dirty="0"/>
          </a:p>
        </p:txBody>
      </p:sp>
      <p:sp>
        <p:nvSpPr>
          <p:cNvPr id="42" name="Text 34"/>
          <p:cNvSpPr/>
          <p:nvPr/>
        </p:nvSpPr>
        <p:spPr>
          <a:xfrm>
            <a:off x="4498848" y="419709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planning, performance analysis, content suggestions and customer insights.</a:t>
            </a:r>
            <a:endParaRPr lang="en-US" sz="870" dirty="0"/>
          </a:p>
        </p:txBody>
      </p:sp>
      <p:sp>
        <p:nvSpPr>
          <p:cNvPr id="43" name="Shape 35"/>
          <p:cNvSpPr/>
          <p:nvPr/>
        </p:nvSpPr>
        <p:spPr>
          <a:xfrm>
            <a:off x="8046720" y="3538728"/>
            <a:ext cx="35204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8046720" y="3538728"/>
            <a:ext cx="45720" cy="15361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8247888" y="37398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0060" y="3832068"/>
            <a:ext cx="199705" cy="199705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759952" y="37398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the Core</a:t>
            </a:r>
            <a:endParaRPr lang="en-US" sz="1220" dirty="0"/>
          </a:p>
        </p:txBody>
      </p:sp>
      <p:sp>
        <p:nvSpPr>
          <p:cNvPr id="48" name="Text 39"/>
          <p:cNvSpPr/>
          <p:nvPr/>
        </p:nvSpPr>
        <p:spPr>
          <a:xfrm>
            <a:off x="8247888" y="419709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HR &amp; employee, compliance and other role-specific assistants.</a:t>
            </a:r>
            <a:endParaRPr lang="en-US" sz="870" dirty="0"/>
          </a:p>
        </p:txBody>
      </p:sp>
      <p:sp>
        <p:nvSpPr>
          <p:cNvPr id="49" name="Shape 40"/>
          <p:cNvSpPr/>
          <p:nvPr/>
        </p:nvSpPr>
        <p:spPr>
          <a:xfrm>
            <a:off x="548640" y="5422392"/>
            <a:ext cx="11009376" cy="5486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841248" y="5605272"/>
            <a:ext cx="103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can search, explain, recommend, create and act—while remaining integrated with business data, systems and approval loops.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06 OF 15  |  AI USE CASES</a:t>
            </a:r>
            <a:endParaRPr lang="en-US" sz="680" dirty="0"/>
          </a:p>
        </p:txBody>
      </p:sp>
      <p:pic>
        <p:nvPicPr>
          <p:cNvPr id="53" name="Image 7" descr="/mnt/data/liberin_logo_trimm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Practical, Outcome-Focused Enterprise AI Delivery Model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steps from need to refinement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92224"/>
            <a:ext cx="1984248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92224"/>
            <a:ext cx="45720" cy="19842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47088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49808" y="195681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563" y="2055571"/>
            <a:ext cx="213970" cy="21397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" y="25420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Business Need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9808" y="305409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objectives, challenges and expected outcomes to measurable business impact.</a:t>
            </a:r>
            <a:endParaRPr lang="en-US" sz="810" dirty="0"/>
          </a:p>
        </p:txBody>
      </p:sp>
      <p:sp>
        <p:nvSpPr>
          <p:cNvPr id="20" name="Shape 16"/>
          <p:cNvSpPr/>
          <p:nvPr/>
        </p:nvSpPr>
        <p:spPr>
          <a:xfrm>
            <a:off x="2807208" y="1792224"/>
            <a:ext cx="1984248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807208" y="1792224"/>
            <a:ext cx="45720" cy="1984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105656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008376" y="195681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7131" y="2055571"/>
            <a:ext cx="213970" cy="21397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008376" y="25420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Required Data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008376" y="305409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structured, unstructured, APIs, communications and external inputs.</a:t>
            </a:r>
            <a:endParaRPr lang="en-US" sz="810" dirty="0"/>
          </a:p>
        </p:txBody>
      </p:sp>
      <p:sp>
        <p:nvSpPr>
          <p:cNvPr id="27" name="Shape 22"/>
          <p:cNvSpPr/>
          <p:nvPr/>
        </p:nvSpPr>
        <p:spPr>
          <a:xfrm>
            <a:off x="5065776" y="1792224"/>
            <a:ext cx="1984248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065776" y="1792224"/>
            <a:ext cx="45720" cy="1984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364224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266944" y="195681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5699" y="2055571"/>
            <a:ext cx="213970" cy="21397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66944" y="25420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the Tech Stack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266944" y="305409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LLM, connectors, infrastructure and tools for scale and security.</a:t>
            </a:r>
            <a:endParaRPr lang="en-US" sz="810" dirty="0"/>
          </a:p>
        </p:txBody>
      </p:sp>
      <p:sp>
        <p:nvSpPr>
          <p:cNvPr id="34" name="Shape 28"/>
          <p:cNvSpPr/>
          <p:nvPr/>
        </p:nvSpPr>
        <p:spPr>
          <a:xfrm>
            <a:off x="7324344" y="1792224"/>
            <a:ext cx="1984248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324344" y="1792224"/>
            <a:ext cx="45720" cy="1984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622792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525512" y="195681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4267" y="2055571"/>
            <a:ext cx="213970" cy="21397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525512" y="25420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the Right Agent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525512" y="305409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suitable persona based on workflows and user expectations.</a:t>
            </a:r>
            <a:endParaRPr lang="en-US" sz="810" dirty="0"/>
          </a:p>
        </p:txBody>
      </p:sp>
      <p:sp>
        <p:nvSpPr>
          <p:cNvPr id="41" name="Shape 34"/>
          <p:cNvSpPr/>
          <p:nvPr/>
        </p:nvSpPr>
        <p:spPr>
          <a:xfrm>
            <a:off x="9582912" y="1792224"/>
            <a:ext cx="1984248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9582912" y="1792224"/>
            <a:ext cx="45720" cy="1984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10881360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9784080" y="195681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82835" y="2055571"/>
            <a:ext cx="213970" cy="21397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784080" y="254203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Knowledge Base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9784080" y="305409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Aggregate, organize and structure data for relevance, accuracy and context.</a:t>
            </a:r>
            <a:endParaRPr lang="en-US" sz="810" dirty="0"/>
          </a:p>
        </p:txBody>
      </p:sp>
      <p:sp>
        <p:nvSpPr>
          <p:cNvPr id="48" name="Shape 40"/>
          <p:cNvSpPr/>
          <p:nvPr/>
        </p:nvSpPr>
        <p:spPr>
          <a:xfrm>
            <a:off x="2148840" y="4096512"/>
            <a:ext cx="3639312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2148840" y="4096512"/>
            <a:ext cx="45720" cy="1673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2377440" y="436168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8390" y="4462638"/>
            <a:ext cx="218724" cy="21872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074920" y="43251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500" dirty="0"/>
          </a:p>
        </p:txBody>
      </p:sp>
      <p:sp>
        <p:nvSpPr>
          <p:cNvPr id="53" name="Text 44"/>
          <p:cNvSpPr/>
          <p:nvPr/>
        </p:nvSpPr>
        <p:spPr>
          <a:xfrm>
            <a:off x="2971800" y="4334256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 for the Business</a:t>
            </a:r>
            <a:endParaRPr lang="en-US" sz="1230" dirty="0"/>
          </a:p>
        </p:txBody>
      </p:sp>
      <p:sp>
        <p:nvSpPr>
          <p:cNvPr id="54" name="Text 45"/>
          <p:cNvSpPr/>
          <p:nvPr/>
        </p:nvSpPr>
        <p:spPr>
          <a:xfrm>
            <a:off x="297180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 behaviour, tone, workflows, integrations, actions, policies and rules.</a:t>
            </a:r>
            <a:endParaRPr lang="en-US" sz="880" dirty="0"/>
          </a:p>
        </p:txBody>
      </p:sp>
      <p:sp>
        <p:nvSpPr>
          <p:cNvPr id="55" name="Shape 46"/>
          <p:cNvSpPr/>
          <p:nvPr/>
        </p:nvSpPr>
        <p:spPr>
          <a:xfrm>
            <a:off x="6419088" y="4096512"/>
            <a:ext cx="3639312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6419088" y="4096512"/>
            <a:ext cx="45720" cy="16733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8"/>
          <p:cNvSpPr/>
          <p:nvPr/>
        </p:nvSpPr>
        <p:spPr>
          <a:xfrm>
            <a:off x="6647688" y="436168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48638" y="4462638"/>
            <a:ext cx="218724" cy="218724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9345168" y="43251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500" dirty="0"/>
          </a:p>
        </p:txBody>
      </p:sp>
      <p:sp>
        <p:nvSpPr>
          <p:cNvPr id="60" name="Text 50"/>
          <p:cNvSpPr/>
          <p:nvPr/>
        </p:nvSpPr>
        <p:spPr>
          <a:xfrm>
            <a:off x="7242048" y="4334256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&amp; Refine Continuously</a:t>
            </a:r>
            <a:endParaRPr lang="en-US" sz="1230" dirty="0"/>
          </a:p>
        </p:txBody>
      </p:sp>
      <p:sp>
        <p:nvSpPr>
          <p:cNvPr id="61" name="Text 51"/>
          <p:cNvSpPr/>
          <p:nvPr/>
        </p:nvSpPr>
        <p:spPr>
          <a:xfrm>
            <a:off x="7242048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with KPIs, monitor performance, gather feedback and improve iteratively.</a:t>
            </a:r>
            <a:endParaRPr lang="en-US" sz="880" dirty="0"/>
          </a:p>
        </p:txBody>
      </p:sp>
      <p:sp>
        <p:nvSpPr>
          <p:cNvPr id="62" name="Shape 52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3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07 OF 15  |  AI IMPLEMENTATION</a:t>
            </a:r>
            <a:endParaRPr lang="en-US" sz="680" dirty="0"/>
          </a:p>
        </p:txBody>
      </p:sp>
      <p:pic>
        <p:nvPicPr>
          <p:cNvPr id="64" name="Image 8" descr="/mnt/data/liberin_logo_trimm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ENGINEERING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Engineering for Cloud, Web, Mobile &amp; Connected Systems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Modernize • Integrate • Scale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801368"/>
            <a:ext cx="2596896" cy="3319272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801368"/>
            <a:ext cx="45720" cy="33192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68096" y="201168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435" y="2117019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" y="25968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Consulting</a:t>
            </a:r>
            <a:endParaRPr lang="en-US" sz="1320" dirty="0"/>
          </a:p>
        </p:txBody>
      </p:sp>
      <p:sp>
        <p:nvSpPr>
          <p:cNvPr id="18" name="Text 14"/>
          <p:cNvSpPr/>
          <p:nvPr/>
        </p:nvSpPr>
        <p:spPr>
          <a:xfrm>
            <a:off x="768096" y="3182112"/>
            <a:ext cx="21579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 &amp; architecture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architecture roadmap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definition and technical strategy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3346704" y="1801368"/>
            <a:ext cx="2596896" cy="3319272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46704" y="1801368"/>
            <a:ext cx="45720" cy="33192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566160" y="201168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1499" y="2117019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66160" y="25968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Modernization</a:t>
            </a:r>
            <a:endParaRPr lang="en-US" sz="1320" dirty="0"/>
          </a:p>
        </p:txBody>
      </p:sp>
      <p:sp>
        <p:nvSpPr>
          <p:cNvPr id="24" name="Text 19"/>
          <p:cNvSpPr/>
          <p:nvPr/>
        </p:nvSpPr>
        <p:spPr>
          <a:xfrm>
            <a:off x="3566160" y="3182112"/>
            <a:ext cx="21579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consulting &amp; transformation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application development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and API-driven modernization</a:t>
            </a:r>
            <a:endParaRPr lang="en-US" sz="920" dirty="0"/>
          </a:p>
        </p:txBody>
      </p:sp>
      <p:sp>
        <p:nvSpPr>
          <p:cNvPr id="25" name="Shape 20"/>
          <p:cNvSpPr/>
          <p:nvPr/>
        </p:nvSpPr>
        <p:spPr>
          <a:xfrm>
            <a:off x="6144768" y="1801368"/>
            <a:ext cx="2596896" cy="3319272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144768" y="1801368"/>
            <a:ext cx="45720" cy="33192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364224" y="201168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9563" y="2117019"/>
            <a:ext cx="228234" cy="22823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64224" y="25968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Web, Mobile &amp; UX</a:t>
            </a:r>
            <a:endParaRPr lang="en-US" sz="1320" dirty="0"/>
          </a:p>
        </p:txBody>
      </p:sp>
      <p:sp>
        <p:nvSpPr>
          <p:cNvPr id="30" name="Text 24"/>
          <p:cNvSpPr/>
          <p:nvPr/>
        </p:nvSpPr>
        <p:spPr>
          <a:xfrm>
            <a:off x="6364224" y="3182112"/>
            <a:ext cx="21579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consulting, development &amp; testing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applications and front-end engineering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design and UI development</a:t>
            </a:r>
            <a:endParaRPr lang="en-US" sz="920" dirty="0"/>
          </a:p>
        </p:txBody>
      </p:sp>
      <p:sp>
        <p:nvSpPr>
          <p:cNvPr id="31" name="Shape 25"/>
          <p:cNvSpPr/>
          <p:nvPr/>
        </p:nvSpPr>
        <p:spPr>
          <a:xfrm>
            <a:off x="8942832" y="1801368"/>
            <a:ext cx="2596896" cy="3319272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942832" y="1801368"/>
            <a:ext cx="45720" cy="33192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9162288" y="201168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7627" y="2117019"/>
            <a:ext cx="228234" cy="22823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62288" y="25968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&amp; Connected Devices</a:t>
            </a:r>
            <a:endParaRPr lang="en-US" sz="1320" dirty="0"/>
          </a:p>
        </p:txBody>
      </p:sp>
      <p:sp>
        <p:nvSpPr>
          <p:cNvPr id="36" name="Text 29"/>
          <p:cNvSpPr/>
          <p:nvPr/>
        </p:nvSpPr>
        <p:spPr>
          <a:xfrm>
            <a:off x="9162288" y="3182112"/>
            <a:ext cx="21579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apps and connected systems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Device-to-cloud workflows and telemetry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Monitoring, provisioning and diagnostics</a:t>
            </a:r>
            <a:endParaRPr lang="en-US" sz="920" dirty="0"/>
          </a:p>
        </p:txBody>
      </p:sp>
      <p:sp>
        <p:nvSpPr>
          <p:cNvPr id="37" name="Shape 30"/>
          <p:cNvSpPr/>
          <p:nvPr/>
        </p:nvSpPr>
        <p:spPr>
          <a:xfrm>
            <a:off x="548640" y="5376672"/>
            <a:ext cx="11009376" cy="566928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822960" y="5559552"/>
            <a:ext cx="10479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ownership can span product definition, roadmap, architecture, stack selection, engineering, testing, deployment and support.</a:t>
            </a:r>
            <a:endParaRPr lang="en-US" sz="980" dirty="0"/>
          </a:p>
        </p:txBody>
      </p:sp>
      <p:sp>
        <p:nvSpPr>
          <p:cNvPr id="39" name="Shape 32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08 OF 15  |  DIGITAL ENGINEERING</a:t>
            </a:r>
            <a:endParaRPr lang="en-US" sz="680" dirty="0"/>
          </a:p>
        </p:txBody>
      </p:sp>
      <p:pic>
        <p:nvPicPr>
          <p:cNvPr id="41" name="Image 5" descr="/mnt/data/liberin_logo_trimm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ASSURANCE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Engineering, DevOps &amp; Support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confidence at enterprise scale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376672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4160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22960" y="20299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88" y="213969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2048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Assurance &amp; Test Automation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68680" y="2724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 &amp; Assess</a:t>
            </a:r>
            <a:endParaRPr lang="en-US" sz="1030" dirty="0"/>
          </a:p>
        </p:txBody>
      </p:sp>
      <p:sp>
        <p:nvSpPr>
          <p:cNvPr id="19" name="Text 15"/>
          <p:cNvSpPr/>
          <p:nvPr/>
        </p:nvSpPr>
        <p:spPr>
          <a:xfrm>
            <a:off x="2304288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consulting and recommendations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&amp; tools assessment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strategy &amp; roadmap</a:t>
            </a:r>
            <a:endParaRPr lang="en-US" sz="880" dirty="0"/>
          </a:p>
        </p:txBody>
      </p:sp>
      <p:sp>
        <p:nvSpPr>
          <p:cNvPr id="20" name="Text 16"/>
          <p:cNvSpPr/>
          <p:nvPr/>
        </p:nvSpPr>
        <p:spPr>
          <a:xfrm>
            <a:off x="868680" y="35661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&amp; Validate</a:t>
            </a:r>
            <a:endParaRPr lang="en-US" sz="1030" dirty="0"/>
          </a:p>
        </p:txBody>
      </p:sp>
      <p:sp>
        <p:nvSpPr>
          <p:cNvPr id="21" name="Text 17"/>
          <p:cNvSpPr/>
          <p:nvPr/>
        </p:nvSpPr>
        <p:spPr>
          <a:xfrm>
            <a:off x="2304288" y="3538728"/>
            <a:ext cx="3154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POC, implementation &amp; rollout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functional &amp; automation testing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&amp; security testing</a:t>
            </a:r>
            <a:endParaRPr lang="en-US" sz="880" dirty="0"/>
          </a:p>
        </p:txBody>
      </p:sp>
      <p:sp>
        <p:nvSpPr>
          <p:cNvPr id="22" name="Text 18"/>
          <p:cNvSpPr/>
          <p:nvPr/>
        </p:nvSpPr>
        <p:spPr>
          <a:xfrm>
            <a:off x="868680" y="44074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Areas</a:t>
            </a:r>
            <a:endParaRPr lang="en-US" sz="1030" dirty="0"/>
          </a:p>
        </p:txBody>
      </p:sp>
      <p:sp>
        <p:nvSpPr>
          <p:cNvPr id="23" name="Text 19"/>
          <p:cNvSpPr/>
          <p:nvPr/>
        </p:nvSpPr>
        <p:spPr>
          <a:xfrm>
            <a:off x="2304288" y="4379976"/>
            <a:ext cx="3154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testing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&amp; web automation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farm, integration &amp; code quality</a:t>
            </a:r>
            <a:endParaRPr lang="en-US" sz="880" dirty="0"/>
          </a:p>
          <a:p>
            <a:pPr marL="127000" indent="-127000">
              <a:buSzPct val="100000"/>
              <a:buChar char="•"/>
            </a:pPr>
            <a:r>
              <a:rPr lang="en-US" sz="8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CI-CD-CT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6181344" y="1783080"/>
            <a:ext cx="537667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81344" y="1783080"/>
            <a:ext cx="45720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446520" y="202996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859" y="2135307"/>
            <a:ext cx="228234" cy="22823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22592" y="2048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&amp; Maintenance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6446520" y="2633472"/>
            <a:ext cx="46177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support (L2/L3)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monitoring &amp; infrastructure management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maintenance services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181344" y="3986784"/>
            <a:ext cx="5376672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181344" y="3986784"/>
            <a:ext cx="45720" cy="19568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446520" y="423367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1859" y="4339011"/>
            <a:ext cx="228234" cy="22823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22592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Coverage</a:t>
            </a:r>
            <a:endParaRPr lang="en-US" sz="1550" dirty="0"/>
          </a:p>
        </p:txBody>
      </p:sp>
      <p:sp>
        <p:nvSpPr>
          <p:cNvPr id="35" name="Shape 29"/>
          <p:cNvSpPr/>
          <p:nvPr/>
        </p:nvSpPr>
        <p:spPr>
          <a:xfrm>
            <a:off x="6446520" y="4791456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519672" y="4873752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720" dirty="0"/>
          </a:p>
        </p:txBody>
      </p:sp>
      <p:sp>
        <p:nvSpPr>
          <p:cNvPr id="37" name="Shape 31"/>
          <p:cNvSpPr/>
          <p:nvPr/>
        </p:nvSpPr>
        <p:spPr>
          <a:xfrm>
            <a:off x="7287768" y="4791456"/>
            <a:ext cx="1234440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7360920" y="4873752"/>
            <a:ext cx="108813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Development</a:t>
            </a:r>
            <a:endParaRPr lang="en-US" sz="720" dirty="0"/>
          </a:p>
        </p:txBody>
      </p:sp>
      <p:sp>
        <p:nvSpPr>
          <p:cNvPr id="39" name="Shape 33"/>
          <p:cNvSpPr/>
          <p:nvPr/>
        </p:nvSpPr>
        <p:spPr>
          <a:xfrm>
            <a:off x="8613648" y="4791456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8686800" y="4873752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720" dirty="0"/>
          </a:p>
        </p:txBody>
      </p:sp>
      <p:sp>
        <p:nvSpPr>
          <p:cNvPr id="41" name="Shape 35"/>
          <p:cNvSpPr/>
          <p:nvPr/>
        </p:nvSpPr>
        <p:spPr>
          <a:xfrm>
            <a:off x="9454896" y="4791456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9528048" y="4873752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</a:t>
            </a:r>
            <a:endParaRPr lang="en-US" sz="720" dirty="0"/>
          </a:p>
        </p:txBody>
      </p:sp>
      <p:sp>
        <p:nvSpPr>
          <p:cNvPr id="43" name="Shape 37"/>
          <p:cNvSpPr/>
          <p:nvPr/>
        </p:nvSpPr>
        <p:spPr>
          <a:xfrm>
            <a:off x="10296144" y="4791456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10369296" y="4873752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</a:t>
            </a:r>
            <a:endParaRPr lang="en-US" sz="720" dirty="0"/>
          </a:p>
        </p:txBody>
      </p:sp>
      <p:sp>
        <p:nvSpPr>
          <p:cNvPr id="45" name="Shape 39"/>
          <p:cNvSpPr/>
          <p:nvPr/>
        </p:nvSpPr>
        <p:spPr>
          <a:xfrm>
            <a:off x="6446520" y="5175504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6519672" y="5257800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720" dirty="0"/>
          </a:p>
        </p:txBody>
      </p:sp>
      <p:sp>
        <p:nvSpPr>
          <p:cNvPr id="47" name="Shape 41"/>
          <p:cNvSpPr/>
          <p:nvPr/>
        </p:nvSpPr>
        <p:spPr>
          <a:xfrm>
            <a:off x="7287768" y="5175504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7360920" y="5257800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720" dirty="0"/>
          </a:p>
        </p:txBody>
      </p:sp>
      <p:sp>
        <p:nvSpPr>
          <p:cNvPr id="49" name="Shape 43"/>
          <p:cNvSpPr/>
          <p:nvPr/>
        </p:nvSpPr>
        <p:spPr>
          <a:xfrm>
            <a:off x="8129016" y="5175504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8202168" y="5257800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720" dirty="0"/>
          </a:p>
        </p:txBody>
      </p:sp>
      <p:sp>
        <p:nvSpPr>
          <p:cNvPr id="51" name="Shape 45"/>
          <p:cNvSpPr/>
          <p:nvPr/>
        </p:nvSpPr>
        <p:spPr>
          <a:xfrm>
            <a:off x="8970264" y="5175504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9043416" y="5257800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&amp; Build</a:t>
            </a:r>
            <a:endParaRPr lang="en-US" sz="720" dirty="0"/>
          </a:p>
        </p:txBody>
      </p:sp>
      <p:sp>
        <p:nvSpPr>
          <p:cNvPr id="53" name="Shape 47"/>
          <p:cNvSpPr/>
          <p:nvPr/>
        </p:nvSpPr>
        <p:spPr>
          <a:xfrm>
            <a:off x="9811512" y="5175504"/>
            <a:ext cx="1051560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9884664" y="5257800"/>
            <a:ext cx="90525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Control</a:t>
            </a:r>
            <a:endParaRPr lang="en-US" sz="720" dirty="0"/>
          </a:p>
        </p:txBody>
      </p:sp>
      <p:sp>
        <p:nvSpPr>
          <p:cNvPr id="55" name="Shape 49"/>
          <p:cNvSpPr/>
          <p:nvPr/>
        </p:nvSpPr>
        <p:spPr>
          <a:xfrm>
            <a:off x="10954512" y="5175504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11027664" y="5257800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720" dirty="0"/>
          </a:p>
        </p:txBody>
      </p:sp>
      <p:sp>
        <p:nvSpPr>
          <p:cNvPr id="57" name="Shape 51"/>
          <p:cNvSpPr/>
          <p:nvPr/>
        </p:nvSpPr>
        <p:spPr>
          <a:xfrm>
            <a:off x="6446520" y="5559552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6519672" y="5641848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720" dirty="0"/>
          </a:p>
        </p:txBody>
      </p:sp>
      <p:sp>
        <p:nvSpPr>
          <p:cNvPr id="59" name="Shape 53"/>
          <p:cNvSpPr/>
          <p:nvPr/>
        </p:nvSpPr>
        <p:spPr>
          <a:xfrm>
            <a:off x="7287768" y="5559552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/>
          <p:nvPr/>
        </p:nvSpPr>
        <p:spPr>
          <a:xfrm>
            <a:off x="7360920" y="5641848"/>
            <a:ext cx="6035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Databases</a:t>
            </a:r>
            <a:endParaRPr lang="en-US" sz="720" dirty="0"/>
          </a:p>
        </p:txBody>
      </p:sp>
      <p:sp>
        <p:nvSpPr>
          <p:cNvPr id="61" name="Shape 55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6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09 OF 15  |  ENGINEERING ASSURANCE</a:t>
            </a:r>
            <a:endParaRPr lang="en-US" sz="680" dirty="0"/>
          </a:p>
        </p:txBody>
      </p:sp>
      <p:pic>
        <p:nvPicPr>
          <p:cNvPr id="63" name="Image 4" descr="/mnt/data/liberin_logo_trimm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MODELS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Delivery Models That Start Small and Scale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around client operating models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847088"/>
            <a:ext cx="2103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847088"/>
            <a:ext cx="45720" cy="18745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206654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369" y="2163105"/>
            <a:ext cx="209215" cy="2092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263347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Onshore–Offshore Hybrid</a:t>
            </a:r>
            <a:endParaRPr lang="en-US" sz="1140" dirty="0"/>
          </a:p>
        </p:txBody>
      </p:sp>
      <p:sp>
        <p:nvSpPr>
          <p:cNvPr id="18" name="Text 14"/>
          <p:cNvSpPr/>
          <p:nvPr/>
        </p:nvSpPr>
        <p:spPr>
          <a:xfrm>
            <a:off x="749808" y="31455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customer proximity with scalable offshore execution.</a:t>
            </a:r>
            <a:endParaRPr lang="en-US" sz="830" dirty="0"/>
          </a:p>
        </p:txBody>
      </p:sp>
      <p:sp>
        <p:nvSpPr>
          <p:cNvPr id="19" name="Shape 15"/>
          <p:cNvSpPr/>
          <p:nvPr/>
        </p:nvSpPr>
        <p:spPr>
          <a:xfrm>
            <a:off x="2779776" y="1847088"/>
            <a:ext cx="2103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779776" y="1847088"/>
            <a:ext cx="45720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980944" y="206654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7505" y="2163105"/>
            <a:ext cx="209215" cy="20921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980944" y="263347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Build–Operate–Transfer</a:t>
            </a:r>
            <a:endParaRPr lang="en-US" sz="1140" dirty="0"/>
          </a:p>
        </p:txBody>
      </p:sp>
      <p:sp>
        <p:nvSpPr>
          <p:cNvPr id="24" name="Text 19"/>
          <p:cNvSpPr/>
          <p:nvPr/>
        </p:nvSpPr>
        <p:spPr>
          <a:xfrm>
            <a:off x="2980944" y="31455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a focused delivery capability and transition ownership when ready.</a:t>
            </a:r>
            <a:endParaRPr lang="en-US" sz="830" dirty="0"/>
          </a:p>
        </p:txBody>
      </p:sp>
      <p:sp>
        <p:nvSpPr>
          <p:cNvPr id="25" name="Shape 20"/>
          <p:cNvSpPr/>
          <p:nvPr/>
        </p:nvSpPr>
        <p:spPr>
          <a:xfrm>
            <a:off x="5010912" y="1847088"/>
            <a:ext cx="2103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010912" y="1847088"/>
            <a:ext cx="45720" cy="18745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212080" y="206654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8641" y="2163105"/>
            <a:ext cx="209215" cy="20921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12080" y="263347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Managed Services</a:t>
            </a:r>
            <a:endParaRPr lang="en-US" sz="1140" dirty="0"/>
          </a:p>
        </p:txBody>
      </p:sp>
      <p:sp>
        <p:nvSpPr>
          <p:cNvPr id="30" name="Text 24"/>
          <p:cNvSpPr/>
          <p:nvPr/>
        </p:nvSpPr>
        <p:spPr>
          <a:xfrm>
            <a:off x="5212080" y="31455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delivery outcomes across defined product or service scopes.</a:t>
            </a:r>
            <a:endParaRPr lang="en-US" sz="830" dirty="0"/>
          </a:p>
        </p:txBody>
      </p:sp>
      <p:sp>
        <p:nvSpPr>
          <p:cNvPr id="31" name="Shape 25"/>
          <p:cNvSpPr/>
          <p:nvPr/>
        </p:nvSpPr>
        <p:spPr>
          <a:xfrm>
            <a:off x="7242048" y="1847088"/>
            <a:ext cx="2103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242048" y="1847088"/>
            <a:ext cx="45720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43216" y="206654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9777" y="2163105"/>
            <a:ext cx="209215" cy="20921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43216" y="263347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Augmentation</a:t>
            </a:r>
            <a:endParaRPr lang="en-US" sz="1140" dirty="0"/>
          </a:p>
        </p:txBody>
      </p:sp>
      <p:sp>
        <p:nvSpPr>
          <p:cNvPr id="36" name="Text 29"/>
          <p:cNvSpPr/>
          <p:nvPr/>
        </p:nvSpPr>
        <p:spPr>
          <a:xfrm>
            <a:off x="7443216" y="31455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or dedicated resources embedded into client teams.</a:t>
            </a:r>
            <a:endParaRPr lang="en-US" sz="830" dirty="0"/>
          </a:p>
        </p:txBody>
      </p:sp>
      <p:sp>
        <p:nvSpPr>
          <p:cNvPr id="37" name="Shape 30"/>
          <p:cNvSpPr/>
          <p:nvPr/>
        </p:nvSpPr>
        <p:spPr>
          <a:xfrm>
            <a:off x="9473184" y="1847088"/>
            <a:ext cx="208483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9473184" y="1847088"/>
            <a:ext cx="45720" cy="18745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9674352" y="206654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0913" y="2163105"/>
            <a:ext cx="209215" cy="20921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674352" y="26334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+ Flexible Resourcing</a:t>
            </a:r>
            <a:endParaRPr lang="en-US" sz="1140" dirty="0"/>
          </a:p>
        </p:txBody>
      </p:sp>
      <p:sp>
        <p:nvSpPr>
          <p:cNvPr id="42" name="Text 34"/>
          <p:cNvSpPr/>
          <p:nvPr/>
        </p:nvSpPr>
        <p:spPr>
          <a:xfrm>
            <a:off x="9674352" y="3145536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up and down around a stable core team as priorities change.</a:t>
            </a:r>
            <a:endParaRPr lang="en-US" sz="830" dirty="0"/>
          </a:p>
        </p:txBody>
      </p:sp>
      <p:sp>
        <p:nvSpPr>
          <p:cNvPr id="43" name="Shape 35"/>
          <p:cNvSpPr/>
          <p:nvPr/>
        </p:nvSpPr>
        <p:spPr>
          <a:xfrm>
            <a:off x="548640" y="4023360"/>
            <a:ext cx="11009376" cy="1847088"/>
          </a:xfrm>
          <a:prstGeom prst="roundRect">
            <a:avLst>
              <a:gd name="adj" fmla="val 2970"/>
            </a:avLst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84124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work with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841248" y="4782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deck explicitly positions Liberin to work across three customer profiles.</a:t>
            </a:r>
            <a:endParaRPr lang="en-US" sz="940" dirty="0"/>
          </a:p>
        </p:txBody>
      </p:sp>
      <p:sp>
        <p:nvSpPr>
          <p:cNvPr id="46" name="Shape 38"/>
          <p:cNvSpPr/>
          <p:nvPr/>
        </p:nvSpPr>
        <p:spPr>
          <a:xfrm>
            <a:off x="4800600" y="4370832"/>
            <a:ext cx="1975104" cy="804672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5192" y="4590288"/>
            <a:ext cx="219456" cy="21945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294376" y="45354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 &amp; PRODUCT COMPANIES</a:t>
            </a:r>
            <a:endParaRPr lang="en-US" sz="790" dirty="0"/>
          </a:p>
        </p:txBody>
      </p:sp>
      <p:sp>
        <p:nvSpPr>
          <p:cNvPr id="49" name="Shape 40"/>
          <p:cNvSpPr/>
          <p:nvPr/>
        </p:nvSpPr>
        <p:spPr>
          <a:xfrm>
            <a:off x="6949440" y="4370832"/>
            <a:ext cx="1975104" cy="804672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4032" y="4590288"/>
            <a:ext cx="219456" cy="21945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443216" y="45354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&amp; MEDIUM BUSINESSES</a:t>
            </a:r>
            <a:endParaRPr lang="en-US" sz="790" dirty="0"/>
          </a:p>
        </p:txBody>
      </p:sp>
      <p:sp>
        <p:nvSpPr>
          <p:cNvPr id="52" name="Shape 42"/>
          <p:cNvSpPr/>
          <p:nvPr/>
        </p:nvSpPr>
        <p:spPr>
          <a:xfrm>
            <a:off x="9098280" y="4370832"/>
            <a:ext cx="1975104" cy="804672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62872" y="4590288"/>
            <a:ext cx="219456" cy="21945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9592056" y="45354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ENTERPRISES</a:t>
            </a:r>
            <a:endParaRPr lang="en-US" sz="790" dirty="0"/>
          </a:p>
        </p:txBody>
      </p:sp>
      <p:sp>
        <p:nvSpPr>
          <p:cNvPr id="55" name="Shape 44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OF 15  |  ENGAGEMENT MODELS</a:t>
            </a:r>
            <a:endParaRPr lang="en-US" sz="680" dirty="0"/>
          </a:p>
        </p:txBody>
      </p:sp>
      <p:pic>
        <p:nvPicPr>
          <p:cNvPr id="57" name="Image 9" descr="/mnt/data/liberin_logo_trimm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WORK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Customers &amp; Engagement Areas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BFSI, logistics, utilities, retail and AI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7556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1520" y="1965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302" y="2053742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07008" y="20025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 Inc.</a:t>
            </a:r>
            <a:endParaRPr lang="en-US" sz="1160" dirty="0"/>
          </a:p>
        </p:txBody>
      </p:sp>
      <p:sp>
        <p:nvSpPr>
          <p:cNvPr id="18" name="Text 14"/>
          <p:cNvSpPr/>
          <p:nvPr/>
        </p:nvSpPr>
        <p:spPr>
          <a:xfrm>
            <a:off x="731520" y="248716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 monitoring &amp; management; cash forecasting; inter-banking switch monitoring; KPI applications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346704" y="1783080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46704" y="1783080"/>
            <a:ext cx="45720" cy="17556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529584" y="1965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7366" y="2053742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05072" y="20025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Pitney Bowes</a:t>
            </a:r>
            <a:endParaRPr lang="en-US" sz="1160" dirty="0"/>
          </a:p>
        </p:txBody>
      </p:sp>
      <p:sp>
        <p:nvSpPr>
          <p:cNvPr id="24" name="Text 19"/>
          <p:cNvSpPr/>
          <p:nvPr/>
        </p:nvSpPr>
        <p:spPr>
          <a:xfrm>
            <a:off x="3529584" y="248716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Bangladesh Postal Services automation; postage / tax meter platforms; product hardening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144768" y="1783080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144768" y="1783080"/>
            <a:ext cx="4572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327648" y="1965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5430" y="2053742"/>
            <a:ext cx="190195" cy="19019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03136" y="20025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FCI-CCM</a:t>
            </a:r>
            <a:endParaRPr lang="en-US" sz="1160" dirty="0"/>
          </a:p>
        </p:txBody>
      </p:sp>
      <p:sp>
        <p:nvSpPr>
          <p:cNvPr id="30" name="Text 24"/>
          <p:cNvSpPr/>
          <p:nvPr/>
        </p:nvSpPr>
        <p:spPr>
          <a:xfrm>
            <a:off x="6327648" y="248716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omnichannel Customer Communications Management platform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8942832" y="1783080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942832" y="1783080"/>
            <a:ext cx="45720" cy="17556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9125712" y="1965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3494" y="2053742"/>
            <a:ext cx="190195" cy="19019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01200" y="20025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Govt. of India</a:t>
            </a:r>
            <a:endParaRPr lang="en-US" sz="1160" dirty="0"/>
          </a:p>
        </p:txBody>
      </p:sp>
      <p:sp>
        <p:nvSpPr>
          <p:cNvPr id="36" name="Text 29"/>
          <p:cNvSpPr/>
          <p:nvPr/>
        </p:nvSpPr>
        <p:spPr>
          <a:xfrm>
            <a:off x="9125712" y="248716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Turnkey and e-governance projects including Smart Street Light platform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548640" y="3739896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548640" y="3739896"/>
            <a:ext cx="45720" cy="17556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731520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302" y="4010558"/>
            <a:ext cx="190195" cy="19019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207008" y="395935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Zenatix / Schneider Electric</a:t>
            </a:r>
            <a:endParaRPr lang="en-US" sz="1160" dirty="0"/>
          </a:p>
        </p:txBody>
      </p:sp>
      <p:sp>
        <p:nvSpPr>
          <p:cNvPr id="42" name="Text 34"/>
          <p:cNvSpPr/>
          <p:nvPr/>
        </p:nvSpPr>
        <p:spPr>
          <a:xfrm>
            <a:off x="731520" y="444398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building automation and surveillance equipment health monitoring &amp; analytics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3346704" y="3739896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3346704" y="3739896"/>
            <a:ext cx="45720" cy="17556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3529584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7366" y="4010558"/>
            <a:ext cx="190195" cy="190195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005072" y="395935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SymphonyAI, US</a:t>
            </a:r>
            <a:endParaRPr lang="en-US" sz="1160" dirty="0"/>
          </a:p>
        </p:txBody>
      </p:sp>
      <p:sp>
        <p:nvSpPr>
          <p:cNvPr id="48" name="Text 39"/>
          <p:cNvSpPr/>
          <p:nvPr/>
        </p:nvSpPr>
        <p:spPr>
          <a:xfrm>
            <a:off x="3529584" y="444398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intelligence platform – data engineering and AI Quality Analyst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6144768" y="3739896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6144768" y="3739896"/>
            <a:ext cx="45720" cy="17556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6327648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5430" y="4010558"/>
            <a:ext cx="190195" cy="190195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6803136" y="395935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Ensaras AI, US</a:t>
            </a:r>
            <a:endParaRPr lang="en-US" sz="1160" dirty="0"/>
          </a:p>
        </p:txBody>
      </p:sp>
      <p:sp>
        <p:nvSpPr>
          <p:cNvPr id="54" name="Text 44"/>
          <p:cNvSpPr/>
          <p:nvPr/>
        </p:nvSpPr>
        <p:spPr>
          <a:xfrm>
            <a:off x="6327648" y="444398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AI-enabled wastewater stack</a:t>
            </a:r>
            <a:endParaRPr lang="en-US" sz="800" dirty="0"/>
          </a:p>
        </p:txBody>
      </p:sp>
      <p:sp>
        <p:nvSpPr>
          <p:cNvPr id="55" name="Shape 45"/>
          <p:cNvSpPr/>
          <p:nvPr/>
        </p:nvSpPr>
        <p:spPr>
          <a:xfrm>
            <a:off x="8942832" y="3739896"/>
            <a:ext cx="25968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8942832" y="3739896"/>
            <a:ext cx="45720" cy="17556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9125712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13494" y="4010558"/>
            <a:ext cx="190195" cy="190195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9601200" y="395935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SmartBox</a:t>
            </a:r>
            <a:endParaRPr lang="en-US" sz="1160" dirty="0"/>
          </a:p>
        </p:txBody>
      </p:sp>
      <p:sp>
        <p:nvSpPr>
          <p:cNvPr id="60" name="Text 49"/>
          <p:cNvSpPr/>
          <p:nvPr/>
        </p:nvSpPr>
        <p:spPr>
          <a:xfrm>
            <a:off x="9125712" y="444398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locker platform architecture, IoT core services and testing toolkit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1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OF 15  |  REPRESENTATIVE WORK</a:t>
            </a:r>
            <a:endParaRPr lang="en-US" sz="680" dirty="0"/>
          </a:p>
        </p:txBody>
      </p:sp>
      <p:pic>
        <p:nvPicPr>
          <p:cNvPr id="63" name="Image 9" descr="/mnt/data/liberin_logo_trimm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BFSI: Monitoring at Scale + AI Cash Forecasting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engineering + AI/ML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42976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22960" y="204825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299" y="2153595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26464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Bridge Suite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822960" y="252374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Architecture • Product Engineering • Support &amp; Maintenance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822960" y="2944368"/>
            <a:ext cx="45262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monitoring agents across ATMs / PoS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RBAC, incident &amp; SLA monitoring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Workflow-based alerts over email, SMS &amp; IVR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/ performance dashboards and field-service apps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management, forecasting, remote deposit capture and ATM campaigns</a:t>
            </a:r>
            <a:endParaRPr lang="en-US" sz="920" dirty="0"/>
          </a:p>
        </p:txBody>
      </p:sp>
      <p:sp>
        <p:nvSpPr>
          <p:cNvPr id="20" name="Shape 16"/>
          <p:cNvSpPr/>
          <p:nvPr/>
        </p:nvSpPr>
        <p:spPr>
          <a:xfrm>
            <a:off x="822960" y="5157216"/>
            <a:ext cx="4526280" cy="566928"/>
          </a:xfrm>
          <a:prstGeom prst="roundRect">
            <a:avLst>
              <a:gd name="adj" fmla="val 80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87552" y="5321808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context: client platform used across 400,000+ ATMs / self-service devices with a customer base spanning 25+ countries.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6172200" y="1783080"/>
            <a:ext cx="5385816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172200" y="1783080"/>
            <a:ext cx="45720" cy="4297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446520" y="204825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859" y="2153595"/>
            <a:ext cx="228234" cy="22823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59168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Cash Inventory Forecasting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446520" y="252374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demand forecasting for ATM networks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446520" y="2926080"/>
            <a:ext cx="45262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ATM-level cash demand forecasting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capacity, balance and dispense monitoring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Denomination-wise planning and cash-load schedules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Holiday / salary-day / emergency replenishment planning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cash orders, revisions and low/high threshold alerts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37376" y="4736592"/>
            <a:ext cx="1389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437376" y="4736592"/>
            <a:ext cx="45720" cy="10607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583680" y="4919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2500" dirty="0"/>
          </a:p>
        </p:txBody>
      </p:sp>
      <p:sp>
        <p:nvSpPr>
          <p:cNvPr id="32" name="Text 27"/>
          <p:cNvSpPr/>
          <p:nvPr/>
        </p:nvSpPr>
        <p:spPr>
          <a:xfrm>
            <a:off x="6528816" y="542239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CASH REDUCTION</a:t>
            </a:r>
            <a:endParaRPr lang="en-US" sz="640" dirty="0"/>
          </a:p>
        </p:txBody>
      </p:sp>
      <p:sp>
        <p:nvSpPr>
          <p:cNvPr id="33" name="Text 28"/>
          <p:cNvSpPr/>
          <p:nvPr/>
        </p:nvSpPr>
        <p:spPr>
          <a:xfrm>
            <a:off x="6528816" y="559612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ATM network</a:t>
            </a:r>
            <a:endParaRPr lang="en-US" sz="640" dirty="0"/>
          </a:p>
        </p:txBody>
      </p:sp>
      <p:sp>
        <p:nvSpPr>
          <p:cNvPr id="34" name="Shape 29"/>
          <p:cNvSpPr/>
          <p:nvPr/>
        </p:nvSpPr>
        <p:spPr>
          <a:xfrm>
            <a:off x="7991856" y="4736592"/>
            <a:ext cx="1389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7991856" y="4736592"/>
            <a:ext cx="45720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8138160" y="4919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2500" dirty="0"/>
          </a:p>
        </p:txBody>
      </p:sp>
      <p:sp>
        <p:nvSpPr>
          <p:cNvPr id="37" name="Text 32"/>
          <p:cNvSpPr/>
          <p:nvPr/>
        </p:nvSpPr>
        <p:spPr>
          <a:xfrm>
            <a:off x="8083296" y="542239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 IN CASH TRANSPORT</a:t>
            </a:r>
            <a:endParaRPr lang="en-US" sz="640" dirty="0"/>
          </a:p>
        </p:txBody>
      </p:sp>
      <p:sp>
        <p:nvSpPr>
          <p:cNvPr id="38" name="Text 33"/>
          <p:cNvSpPr/>
          <p:nvPr/>
        </p:nvSpPr>
        <p:spPr>
          <a:xfrm>
            <a:off x="8083296" y="559612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handling costs</a:t>
            </a:r>
            <a:endParaRPr lang="en-US" sz="640" dirty="0"/>
          </a:p>
        </p:txBody>
      </p:sp>
      <p:sp>
        <p:nvSpPr>
          <p:cNvPr id="39" name="Shape 34"/>
          <p:cNvSpPr/>
          <p:nvPr/>
        </p:nvSpPr>
        <p:spPr>
          <a:xfrm>
            <a:off x="9546336" y="4736592"/>
            <a:ext cx="16276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9546336" y="4736592"/>
            <a:ext cx="45720" cy="10607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9692640" y="49194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2500" dirty="0"/>
          </a:p>
        </p:txBody>
      </p:sp>
      <p:sp>
        <p:nvSpPr>
          <p:cNvPr id="42" name="Text 37"/>
          <p:cNvSpPr/>
          <p:nvPr/>
        </p:nvSpPr>
        <p:spPr>
          <a:xfrm>
            <a:off x="9637776" y="542239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FEES</a:t>
            </a:r>
            <a:endParaRPr lang="en-US" sz="640" dirty="0"/>
          </a:p>
        </p:txBody>
      </p:sp>
      <p:sp>
        <p:nvSpPr>
          <p:cNvPr id="43" name="Text 38"/>
          <p:cNvSpPr/>
          <p:nvPr/>
        </p:nvSpPr>
        <p:spPr>
          <a:xfrm>
            <a:off x="9637776" y="5596128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cash optimization</a:t>
            </a:r>
            <a:endParaRPr lang="en-US" sz="640" dirty="0"/>
          </a:p>
        </p:txBody>
      </p:sp>
      <p:sp>
        <p:nvSpPr>
          <p:cNvPr id="44" name="Shape 39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 OF 15  |  BFSI CASE STUDY</a:t>
            </a:r>
            <a:endParaRPr lang="en-US" sz="680" dirty="0"/>
          </a:p>
        </p:txBody>
      </p:sp>
      <p:pic>
        <p:nvPicPr>
          <p:cNvPr id="46" name="Image 3" descr="/mnt/data/liberin_logo_trim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Communications, Shipping &amp; Connected Infrastructure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product engineering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376672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8836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68096" y="20025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657" y="2099097"/>
            <a:ext cx="209215" cy="2092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200253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FCI-CCM — Omnichannel Communications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8096" y="253288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consulting, engineering &amp; QE for a cloud-native CCM platform spanning core-system integration, templates, workflow automation, personalization, batch / on-demand communications and channels including SMS, WhatsApp, email, pURL, pVideo, HTML, print and PDF.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6181344" y="1783080"/>
            <a:ext cx="5376672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81344" y="1783080"/>
            <a:ext cx="45720" cy="18836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400800" y="20025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7361" y="2099097"/>
            <a:ext cx="209215" cy="20921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31152" y="200253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Pitney Bowes — Postal &amp; Shipping Automation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0" y="253288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Bangladesh Post automation across parcel intake, volumetric weight, rates, dispatch, delivery and undelivered parcels. SendPro work included mobile self-care, device health, usage / spend visibility and extensive functional, integration and backend performance testing.</a:t>
            </a:r>
            <a:endParaRPr lang="en-US" sz="840" dirty="0"/>
          </a:p>
        </p:txBody>
      </p:sp>
      <p:sp>
        <p:nvSpPr>
          <p:cNvPr id="25" name="Shape 20"/>
          <p:cNvSpPr/>
          <p:nvPr/>
        </p:nvSpPr>
        <p:spPr>
          <a:xfrm>
            <a:off x="548640" y="3886200"/>
            <a:ext cx="5376672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8640" y="3886200"/>
            <a:ext cx="45720" cy="18836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68096" y="410565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657" y="4202217"/>
            <a:ext cx="209215" cy="20921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98448" y="41056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City — Smart Street Light Platform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68096" y="463600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In-house controller plus cloud dashboard for remote on/off, dimming, scheduling, telemetry, OTA firmware and third-party APIs. Source deck states 10,000 units deployed in a marquee Smart City in India.</a:t>
            </a:r>
            <a:endParaRPr lang="en-US" sz="840" dirty="0"/>
          </a:p>
        </p:txBody>
      </p:sp>
      <p:sp>
        <p:nvSpPr>
          <p:cNvPr id="31" name="Shape 25"/>
          <p:cNvSpPr/>
          <p:nvPr/>
        </p:nvSpPr>
        <p:spPr>
          <a:xfrm>
            <a:off x="6181344" y="3886200"/>
            <a:ext cx="5376672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181344" y="3886200"/>
            <a:ext cx="45720" cy="18836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400800" y="410565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7361" y="4202217"/>
            <a:ext cx="209215" cy="20921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31152" y="41056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SmartBox — Smart Locker Platform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400800" y="463600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and technology-stack revamp, Core IoT service, device communication backbone, event / error logging and a hardware Testing Toolkit for controller boards.</a:t>
            </a:r>
            <a:endParaRPr lang="en-US" sz="840" dirty="0"/>
          </a:p>
        </p:txBody>
      </p:sp>
      <p:sp>
        <p:nvSpPr>
          <p:cNvPr id="37" name="Shape 30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 OF 15  |  PRODUCT CASE STUDIES</a:t>
            </a:r>
            <a:endParaRPr lang="en-US" sz="680" dirty="0"/>
          </a:p>
        </p:txBody>
      </p:sp>
      <p:pic>
        <p:nvPicPr>
          <p:cNvPr id="39" name="Image 5" descr="/mnt/data/liberin_logo_trimm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ACTION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Outcome-Oriented AI Use Cases Across Functions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• Email • Analytics • Agentic AI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37667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9385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68096" y="20025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657" y="2099097"/>
            <a:ext cx="209215" cy="2092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2002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 Voice Agent</a:t>
            </a:r>
            <a:endParaRPr lang="en-US" sz="1320" dirty="0"/>
          </a:p>
        </p:txBody>
      </p:sp>
      <p:sp>
        <p:nvSpPr>
          <p:cNvPr id="18" name="Text 14"/>
          <p:cNvSpPr/>
          <p:nvPr/>
        </p:nvSpPr>
        <p:spPr>
          <a:xfrm>
            <a:off x="768096" y="2487168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inbound voice support for billing, service requests, emergencies and FAQs; CRM / knowledge-base integration, ticketing and agent routing.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768096" y="3227832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13816" y="331927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routine inquiry automation</a:t>
            </a:r>
            <a:endParaRPr lang="en-US" sz="680" dirty="0"/>
          </a:p>
        </p:txBody>
      </p:sp>
      <p:sp>
        <p:nvSpPr>
          <p:cNvPr id="21" name="Shape 17"/>
          <p:cNvSpPr/>
          <p:nvPr/>
        </p:nvSpPr>
        <p:spPr>
          <a:xfrm>
            <a:off x="2322576" y="3227832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368296" y="331927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 lower AHT</a:t>
            </a:r>
            <a:endParaRPr lang="en-US" sz="680" dirty="0"/>
          </a:p>
        </p:txBody>
      </p:sp>
      <p:sp>
        <p:nvSpPr>
          <p:cNvPr id="23" name="Shape 19"/>
          <p:cNvSpPr/>
          <p:nvPr/>
        </p:nvSpPr>
        <p:spPr>
          <a:xfrm>
            <a:off x="3877056" y="3227832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922776" y="331927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enhanced CSAT</a:t>
            </a:r>
            <a:endParaRPr lang="en-US" sz="680" dirty="0"/>
          </a:p>
        </p:txBody>
      </p:sp>
      <p:sp>
        <p:nvSpPr>
          <p:cNvPr id="25" name="Shape 21"/>
          <p:cNvSpPr/>
          <p:nvPr/>
        </p:nvSpPr>
        <p:spPr>
          <a:xfrm>
            <a:off x="6181344" y="1783080"/>
            <a:ext cx="537667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181344" y="1783080"/>
            <a:ext cx="45720" cy="19385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400800" y="20025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7361" y="2099097"/>
            <a:ext cx="209215" cy="20921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31152" y="2002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Email Assistant</a:t>
            </a:r>
            <a:endParaRPr lang="en-US" sz="1320" dirty="0"/>
          </a:p>
        </p:txBody>
      </p:sp>
      <p:sp>
        <p:nvSpPr>
          <p:cNvPr id="30" name="Text 25"/>
          <p:cNvSpPr/>
          <p:nvPr/>
        </p:nvSpPr>
        <p:spPr>
          <a:xfrm>
            <a:off x="6400800" y="2487168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Outlook-integrated assistant that summarizes new email, finds related threads / attachments, understands maritime terminology and personalizes drafts.</a:t>
            </a:r>
            <a:endParaRPr lang="en-US" sz="820" dirty="0"/>
          </a:p>
        </p:txBody>
      </p:sp>
      <p:sp>
        <p:nvSpPr>
          <p:cNvPr id="31" name="Shape 26"/>
          <p:cNvSpPr/>
          <p:nvPr/>
        </p:nvSpPr>
        <p:spPr>
          <a:xfrm>
            <a:off x="6400800" y="3227832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446520" y="331927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less manual search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7955280" y="3227832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001000" y="331927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 faster response</a:t>
            </a:r>
            <a:endParaRPr lang="en-US" sz="680" dirty="0"/>
          </a:p>
        </p:txBody>
      </p:sp>
      <p:sp>
        <p:nvSpPr>
          <p:cNvPr id="35" name="Shape 30"/>
          <p:cNvSpPr/>
          <p:nvPr/>
        </p:nvSpPr>
        <p:spPr>
          <a:xfrm>
            <a:off x="9509760" y="3227832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9555480" y="331927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accuracy improvement</a:t>
            </a:r>
            <a:endParaRPr lang="en-US" sz="680" dirty="0"/>
          </a:p>
        </p:txBody>
      </p:sp>
      <p:sp>
        <p:nvSpPr>
          <p:cNvPr id="37" name="Shape 32"/>
          <p:cNvSpPr/>
          <p:nvPr/>
        </p:nvSpPr>
        <p:spPr>
          <a:xfrm>
            <a:off x="548640" y="3922776"/>
            <a:ext cx="537667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548640" y="3922776"/>
            <a:ext cx="45720" cy="19385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768096" y="41422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657" y="4238793"/>
            <a:ext cx="209215" cy="20921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98448" y="4142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Sales Analytics</a:t>
            </a:r>
            <a:endParaRPr lang="en-US" sz="1320" dirty="0"/>
          </a:p>
        </p:txBody>
      </p:sp>
      <p:sp>
        <p:nvSpPr>
          <p:cNvPr id="42" name="Text 36"/>
          <p:cNvSpPr/>
          <p:nvPr/>
        </p:nvSpPr>
        <p:spPr>
          <a:xfrm>
            <a:off x="768096" y="4626864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/ voice analytics across ERP, CRM and regional reports with charts, Excel outputs, persona-aware access and feedback loops.</a:t>
            </a:r>
            <a:endParaRPr lang="en-US" sz="820" dirty="0"/>
          </a:p>
        </p:txBody>
      </p:sp>
      <p:sp>
        <p:nvSpPr>
          <p:cNvPr id="43" name="Shape 37"/>
          <p:cNvSpPr/>
          <p:nvPr/>
        </p:nvSpPr>
        <p:spPr>
          <a:xfrm>
            <a:off x="768096" y="5367528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813816" y="5458968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less BI dependency</a:t>
            </a:r>
            <a:endParaRPr lang="en-US" sz="680" dirty="0"/>
          </a:p>
        </p:txBody>
      </p:sp>
      <p:sp>
        <p:nvSpPr>
          <p:cNvPr id="45" name="Shape 39"/>
          <p:cNvSpPr/>
          <p:nvPr/>
        </p:nvSpPr>
        <p:spPr>
          <a:xfrm>
            <a:off x="2322576" y="5367528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2368296" y="5458968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1.5k+ real-time decisions</a:t>
            </a:r>
            <a:endParaRPr lang="en-US" sz="680" dirty="0"/>
          </a:p>
        </p:txBody>
      </p:sp>
      <p:sp>
        <p:nvSpPr>
          <p:cNvPr id="47" name="Shape 41"/>
          <p:cNvSpPr/>
          <p:nvPr/>
        </p:nvSpPr>
        <p:spPr>
          <a:xfrm>
            <a:off x="3877056" y="5367528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3922776" y="5458968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 faster sales planning</a:t>
            </a:r>
            <a:endParaRPr lang="en-US" sz="680" dirty="0"/>
          </a:p>
        </p:txBody>
      </p:sp>
      <p:sp>
        <p:nvSpPr>
          <p:cNvPr id="49" name="Shape 43"/>
          <p:cNvSpPr/>
          <p:nvPr/>
        </p:nvSpPr>
        <p:spPr>
          <a:xfrm>
            <a:off x="6181344" y="3922776"/>
            <a:ext cx="537667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6181344" y="3922776"/>
            <a:ext cx="45720" cy="1938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6400800" y="41422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7361" y="4238793"/>
            <a:ext cx="209215" cy="209215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6931152" y="4142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Marketing Platform</a:t>
            </a:r>
            <a:endParaRPr lang="en-US" sz="1320" dirty="0"/>
          </a:p>
        </p:txBody>
      </p:sp>
      <p:sp>
        <p:nvSpPr>
          <p:cNvPr id="54" name="Text 47"/>
          <p:cNvSpPr/>
          <p:nvPr/>
        </p:nvSpPr>
        <p:spPr>
          <a:xfrm>
            <a:off x="6400800" y="4626864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planning and execution support: competitor analysis, campaign themes, content creation, posting schedules and human approval loops.</a:t>
            </a:r>
            <a:endParaRPr lang="en-US" sz="820" dirty="0"/>
          </a:p>
        </p:txBody>
      </p:sp>
      <p:sp>
        <p:nvSpPr>
          <p:cNvPr id="55" name="Shape 48"/>
          <p:cNvSpPr/>
          <p:nvPr/>
        </p:nvSpPr>
        <p:spPr>
          <a:xfrm>
            <a:off x="6400800" y="5367528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6446520" y="5458968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time saved</a:t>
            </a:r>
            <a:endParaRPr lang="en-US" sz="680" dirty="0"/>
          </a:p>
        </p:txBody>
      </p:sp>
      <p:sp>
        <p:nvSpPr>
          <p:cNvPr id="57" name="Shape 50"/>
          <p:cNvSpPr/>
          <p:nvPr/>
        </p:nvSpPr>
        <p:spPr>
          <a:xfrm>
            <a:off x="7955280" y="5367528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8001000" y="5458968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 weekly content output</a:t>
            </a:r>
            <a:endParaRPr lang="en-US" sz="680" dirty="0"/>
          </a:p>
        </p:txBody>
      </p:sp>
      <p:sp>
        <p:nvSpPr>
          <p:cNvPr id="59" name="Shape 52"/>
          <p:cNvSpPr/>
          <p:nvPr/>
        </p:nvSpPr>
        <p:spPr>
          <a:xfrm>
            <a:off x="9509760" y="5367528"/>
            <a:ext cx="1481328" cy="283464"/>
          </a:xfrm>
          <a:prstGeom prst="roundRect">
            <a:avLst>
              <a:gd name="adj" fmla="val 16129"/>
            </a:avLst>
          </a:prstGeom>
          <a:solidFill>
            <a:srgbClr val="ECFDF5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/>
          <p:nvPr/>
        </p:nvSpPr>
        <p:spPr>
          <a:xfrm>
            <a:off x="9555480" y="5458968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 organic engagement boost</a:t>
            </a:r>
            <a:endParaRPr lang="en-US" sz="680" dirty="0"/>
          </a:p>
        </p:txBody>
      </p:sp>
      <p:sp>
        <p:nvSpPr>
          <p:cNvPr id="61" name="Shape 54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14 OF 15  |  AI CASE STUDIES</a:t>
            </a:r>
            <a:endParaRPr lang="en-US" sz="680" dirty="0"/>
          </a:p>
        </p:txBody>
      </p:sp>
      <p:pic>
        <p:nvPicPr>
          <p:cNvPr id="63" name="Image 5" descr="/mnt/data/liberin_logo_trimm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" y="137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868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2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LIBERIN CAPABILITIES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11119104" y="86868"/>
            <a:ext cx="676656" cy="210312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19104" y="13258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15</a:t>
            </a:r>
            <a:endParaRPr lang="en-US" sz="690" dirty="0"/>
          </a:p>
        </p:txBody>
      </p:sp>
      <p:sp>
        <p:nvSpPr>
          <p:cNvPr id="8" name="Shape 5"/>
          <p:cNvSpPr/>
          <p:nvPr/>
        </p:nvSpPr>
        <p:spPr>
          <a:xfrm>
            <a:off x="530352" y="676656"/>
            <a:ext cx="1417320" cy="265176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754380"/>
            <a:ext cx="1234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1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LIBERIN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30352" y="1005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Engineering Partner for Enterprise Transformation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10972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adaptive innovation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30352" y="1481328"/>
            <a:ext cx="566928" cy="0"/>
          </a:xfrm>
          <a:prstGeom prst="line">
            <a:avLst/>
          </a:prstGeom>
          <a:noFill/>
          <a:ln w="27940">
            <a:solidFill>
              <a:srgbClr val="0284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4572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980" y="2076420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Coverage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749808" y="244144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consulting, design, engineering, quality, project management and operations.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4297680" y="178308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97680" y="1783080"/>
            <a:ext cx="45720" cy="1371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49884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1020" y="2076420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10912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Partnerships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4498848" y="244144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record of building win-win relationships with global customers.</a:t>
            </a:r>
            <a:endParaRPr lang="en-US" sz="870" dirty="0"/>
          </a:p>
        </p:txBody>
      </p:sp>
      <p:sp>
        <p:nvSpPr>
          <p:cNvPr id="25" name="Shape 20"/>
          <p:cNvSpPr/>
          <p:nvPr/>
        </p:nvSpPr>
        <p:spPr>
          <a:xfrm>
            <a:off x="8046720" y="178308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046720" y="1783080"/>
            <a:ext cx="4572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247888" y="1984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0060" y="2076420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59952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Small, Scale</a:t>
            </a:r>
            <a:endParaRPr lang="en-US" sz="1220" dirty="0"/>
          </a:p>
        </p:txBody>
      </p:sp>
      <p:sp>
        <p:nvSpPr>
          <p:cNvPr id="30" name="Text 24"/>
          <p:cNvSpPr/>
          <p:nvPr/>
        </p:nvSpPr>
        <p:spPr>
          <a:xfrm>
            <a:off x="8247888" y="244144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 on targeted problems and scale teams / ownership as value is proven.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548640" y="3364992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548640" y="3364992"/>
            <a:ext cx="45720" cy="1371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9808" y="35661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980" y="3658332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61872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Delivery</a:t>
            </a:r>
            <a:endParaRPr lang="en-US" sz="1220" dirty="0"/>
          </a:p>
        </p:txBody>
      </p:sp>
      <p:sp>
        <p:nvSpPr>
          <p:cNvPr id="36" name="Text 29"/>
          <p:cNvSpPr/>
          <p:nvPr/>
        </p:nvSpPr>
        <p:spPr>
          <a:xfrm>
            <a:off x="749808" y="40233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 project management and metrics-driven governance with transparent collaboration.</a:t>
            </a:r>
            <a:endParaRPr lang="en-US" sz="870" dirty="0"/>
          </a:p>
        </p:txBody>
      </p:sp>
      <p:sp>
        <p:nvSpPr>
          <p:cNvPr id="37" name="Shape 30"/>
          <p:cNvSpPr/>
          <p:nvPr/>
        </p:nvSpPr>
        <p:spPr>
          <a:xfrm>
            <a:off x="4297680" y="3364992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4297680" y="3364992"/>
            <a:ext cx="4572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498848" y="35661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1020" y="3658332"/>
            <a:ext cx="199705" cy="19970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10912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Focus Groups</a:t>
            </a:r>
            <a:endParaRPr lang="en-US" sz="1220" dirty="0"/>
          </a:p>
        </p:txBody>
      </p:sp>
      <p:sp>
        <p:nvSpPr>
          <p:cNvPr id="42" name="Text 34"/>
          <p:cNvSpPr/>
          <p:nvPr/>
        </p:nvSpPr>
        <p:spPr>
          <a:xfrm>
            <a:off x="4498848" y="40233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In-house expertise across Cloud &amp; Mobility, DevOps, AI, IoT, Data Science and Digital Assurance.</a:t>
            </a:r>
            <a:endParaRPr lang="en-US" sz="870" dirty="0"/>
          </a:p>
        </p:txBody>
      </p:sp>
      <p:sp>
        <p:nvSpPr>
          <p:cNvPr id="43" name="Shape 35"/>
          <p:cNvSpPr/>
          <p:nvPr/>
        </p:nvSpPr>
        <p:spPr>
          <a:xfrm>
            <a:off x="8046720" y="3364992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F172A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8046720" y="3364992"/>
            <a:ext cx="45720" cy="1371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8247888" y="35661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0060" y="3658332"/>
            <a:ext cx="199705" cy="199705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759952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Discipline</a:t>
            </a:r>
            <a:endParaRPr lang="en-US" sz="1220" dirty="0"/>
          </a:p>
        </p:txBody>
      </p:sp>
      <p:sp>
        <p:nvSpPr>
          <p:cNvPr id="48" name="Text 39"/>
          <p:cNvSpPr/>
          <p:nvPr/>
        </p:nvSpPr>
        <p:spPr>
          <a:xfrm>
            <a:off x="8247888" y="40233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deck cites 90% retention and 99% compliance on client SLAs.</a:t>
            </a:r>
            <a:endParaRPr lang="en-US" sz="870" dirty="0"/>
          </a:p>
        </p:txBody>
      </p:sp>
      <p:sp>
        <p:nvSpPr>
          <p:cNvPr id="49" name="Shape 40"/>
          <p:cNvSpPr/>
          <p:nvPr/>
        </p:nvSpPr>
        <p:spPr>
          <a:xfrm>
            <a:off x="548640" y="5193792"/>
            <a:ext cx="11009376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822960" y="54041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next capability with Liberin</a:t>
            </a:r>
            <a:endParaRPr lang="en-US" sz="1620" dirty="0"/>
          </a:p>
        </p:txBody>
      </p:sp>
      <p:sp>
        <p:nvSpPr>
          <p:cNvPr id="51" name="Text 42"/>
          <p:cNvSpPr/>
          <p:nvPr/>
        </p:nvSpPr>
        <p:spPr>
          <a:xfrm>
            <a:off x="5696712" y="5468112"/>
            <a:ext cx="5248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prateek@liberintechnologies.com   •   www.liberintechnologies.com</a:t>
            </a:r>
            <a:endParaRPr lang="en-US" sz="880" dirty="0"/>
          </a:p>
        </p:txBody>
      </p:sp>
      <p:sp>
        <p:nvSpPr>
          <p:cNvPr id="52" name="Shape 43"/>
          <p:cNvSpPr/>
          <p:nvPr/>
        </p:nvSpPr>
        <p:spPr>
          <a:xfrm>
            <a:off x="475488" y="6419088"/>
            <a:ext cx="1122883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/>
          <p:nvPr/>
        </p:nvSpPr>
        <p:spPr>
          <a:xfrm>
            <a:off x="502920" y="649224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OF 15  |  WHY LIBERIN</a:t>
            </a:r>
            <a:endParaRPr lang="en-US" sz="680" dirty="0"/>
          </a:p>
        </p:txBody>
      </p:sp>
      <p:pic>
        <p:nvPicPr>
          <p:cNvPr id="54" name="Image 7" descr="/mnt/data/liberin_logo_trimm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5474" y="6451092"/>
            <a:ext cx="888429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2072</Words>
  <Application>Microsoft Macintosh PowerPoint</Application>
  <PresentationFormat>Widescreen</PresentationFormat>
  <Paragraphs>383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Liberin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Liberin Technologies – Enterprise AI &amp; Digital Engineering Capabilities</dc:title>
  <dc:subject>Enterprise AI &amp; Digital Engineering Capabilities</dc:subject>
  <dc:creator>Liberin Technologies</dc:creator>
  <cp:lastModifiedBy>Prateek Sengupta</cp:lastModifiedBy>
  <cp:revision>2</cp:revision>
  <dcterms:created xsi:type="dcterms:W3CDTF">2026-08-07T13:42:26Z</dcterms:created>
  <dcterms:modified xsi:type="dcterms:W3CDTF">2026-08-07T13:51:38Z</dcterms:modified>
</cp:coreProperties>
</file>