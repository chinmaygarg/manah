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87" r:id="rId3"/>
    <p:sldId id="290" r:id="rId4"/>
    <p:sldId id="302" r:id="rId5"/>
    <p:sldId id="303" r:id="rId6"/>
    <p:sldId id="28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24F58-91AD-49AE-A63C-90611F680C5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E601B-BC9A-471E-912A-BF6C3BFE1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163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A0DB6-EDD6-A90D-6BFB-4C3BACE6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9D352-244F-1A2A-F6B4-CAC084CB4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F183E-52F5-7B0C-22B4-241E1C420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FED0D-3FA2-3184-088F-4D0F15FE65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08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2C22-AAAA-8BFB-351D-39C930D25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BEDE2-4BF0-7613-E78F-32EF8FE9B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A0D4F-223E-CDFE-DCAB-17296F50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2156-D964-4165-A00A-961CFE6EEC9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20396-B782-E251-59D1-CB09B5B03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27E05-9E89-153C-4C06-9C67A501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39-D0B9-42F9-8203-F147F3C7F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10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236B-0CC1-558C-47D1-4C723656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4993B-4180-F28E-A139-06CDE03BF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7AAD9-EDEB-CDC1-BFD7-18B4AA05A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2156-D964-4165-A00A-961CFE6EEC9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D298-C2E5-A4D6-FDE4-C6603442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B617F-D495-CE40-F04E-712DDAA8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39-D0B9-42F9-8203-F147F3C7F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98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500D7-2515-B24C-3B90-CB93710D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43B6F-18C8-B7FE-0F35-4E373C3A1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F72EF-2E1E-EA2E-6CB3-AAC68D0E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2156-D964-4165-A00A-961CFE6EEC9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62F82-51B3-6A2E-E385-5E9F2486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6D2A9-70D8-3F08-903B-24B9480C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39-D0B9-42F9-8203-F147F3C7F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537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D960-1CF5-098B-EF6E-587D6E6B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CB7DD-0F55-DFB8-813B-B67757A22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4B8EC-BEDF-D07F-C760-01FD8BAE9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8EB67-80D5-FE39-8C6B-71221EBA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2156-D964-4165-A00A-961CFE6EEC9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3ECF-7101-54DC-DC5D-329947632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8AB28-05CB-EB62-4C75-200C84CD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39-D0B9-42F9-8203-F147F3C7F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1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4462C-A12B-0DF9-2712-D624C4678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90710-6B9B-B398-2E54-C7ADA2E34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F32B4-F7FB-2A4E-017F-D214C59A5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B05841-61B7-7B2B-F497-2799DE85B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FE1ED8-97EF-FCF6-8C4D-963DC51D4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8A559-9A3D-E093-4A23-EC3C917B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2156-D964-4165-A00A-961CFE6EEC9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C512F3-3DAA-BB2E-F428-63C13B4C4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DE3D0-4731-50C8-17F6-34970DD8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39-D0B9-42F9-8203-F147F3C7F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459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71F9-A555-7216-A152-ADF1C0E5B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58129-8B52-5E9D-AED6-E20EB304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2156-D964-4165-A00A-961CFE6EEC9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24054-C5B5-2E78-990F-09F837F5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0C94D-3239-045F-8EAA-23EA4271F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39-D0B9-42F9-8203-F147F3C7F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07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18392-5B4F-FB16-B142-3FEB6B78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2156-D964-4165-A00A-961CFE6EEC9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64820-683A-E8D9-1800-BCE6FB44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D32BA-237D-C63D-2C17-525FFB6F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39-D0B9-42F9-8203-F147F3C7F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18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3FFD7-DDA4-0E64-1A69-CC6B51ED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5176F-B5BB-9B7C-F784-8C88C50B9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08F41-B139-3795-BA7D-531F6A272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769ED-CAC4-CA9E-238B-81A0BA945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2156-D964-4165-A00A-961CFE6EEC9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5D773-8B61-485A-0C7B-439C260FE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173B8-5B89-06D5-3A74-ED096807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39-D0B9-42F9-8203-F147F3C7F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86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EE976-E7AE-3C05-ADE9-A67175851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B6A266-1F4E-02AB-0E47-BBABD0306F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CE52D-E1BE-7EF7-E376-EDA185866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85076-53A8-0238-136C-21CB02E8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2156-D964-4165-A00A-961CFE6EEC9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CD67-8D7E-04C8-0A27-32A6F2D80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8A4E2-F9A4-FFA4-FBE9-26687FC0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39-D0B9-42F9-8203-F147F3C7F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80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4691-D596-C3A7-C0BF-2CCDA075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F27FA0-95FF-3D21-5D53-8F7C8FD47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BC0A8-6483-7630-3FAF-A1C277E09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2156-D964-4165-A00A-961CFE6EEC9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177C8-DE47-572E-0BCD-21FA70704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87B11-E840-A39A-4E45-AF68CF07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39-D0B9-42F9-8203-F147F3C7F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816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3CEEA0-E1BE-3DDB-FCBD-C56DC290B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308DA-F740-4ECC-181A-F9CCCE5EB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B8B59-8354-E017-0740-6CC269A3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2156-D964-4165-A00A-961CFE6EEC9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25469-BAC5-381A-1698-10174514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8EC49-6931-F114-E9AA-978B3E93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7239-D0B9-42F9-8203-F147F3C7F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007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12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3EB10-1469-07BA-5864-95BAFA76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E5E42-9BAD-06BD-BED1-C1D8D5D06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8DF70-A120-09CD-9E73-6E019F053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82156-D964-4165-A00A-961CFE6EEC9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5B410-5D64-19D2-D3E6-AE91198DC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CC4ED-8A2B-B2AC-3DE0-9505E7AB9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F7239-D0B9-42F9-8203-F147F3C7F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854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jpe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jpe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Relationship Id="rId14" Type="http://schemas.openxmlformats.org/officeDocument/2006/relationships/image" Target="../media/image15.jpeg"/><Relationship Id="rId22" Type="http://schemas.openxmlformats.org/officeDocument/2006/relationships/image" Target="../media/image23.png"/><Relationship Id="rId27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7394-BD3A-7D54-8889-F5AA24273E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053C8-FC15-D941-B269-F7FD9AF480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50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57847" y="2838388"/>
            <a:ext cx="1869034" cy="2494007"/>
          </a:xfrm>
          <a:prstGeom prst="roundRect">
            <a:avLst>
              <a:gd name="adj" fmla="val 4998"/>
            </a:avLst>
          </a:prstGeom>
          <a:solidFill>
            <a:srgbClr val="111D2E"/>
          </a:solidFill>
          <a:ln w="6350">
            <a:solidFill>
              <a:srgbClr val="263548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57846" y="2838389"/>
            <a:ext cx="1753531" cy="118314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457846" y="3334744"/>
            <a:ext cx="2195474" cy="658368"/>
          </a:xfrm>
          <a:prstGeom prst="rect">
            <a:avLst/>
          </a:prstGeom>
          <a:solidFill>
            <a:srgbClr val="111D2E">
              <a:alpha val="75000"/>
            </a:srgbClr>
          </a:solidFill>
          <a:ln w="12700">
            <a:solidFill>
              <a:srgbClr val="111D2E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567574" y="3617872"/>
            <a:ext cx="2085746" cy="2926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Manah Atomic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549286" y="3863846"/>
            <a:ext cx="2085746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Energy Solutions</a:t>
            </a:r>
            <a:endParaRPr lang="en-US" sz="1000" b="1" dirty="0"/>
          </a:p>
        </p:txBody>
      </p:sp>
      <p:sp>
        <p:nvSpPr>
          <p:cNvPr id="9" name="Text 5"/>
          <p:cNvSpPr/>
          <p:nvPr/>
        </p:nvSpPr>
        <p:spPr>
          <a:xfrm>
            <a:off x="7549286" y="4169544"/>
            <a:ext cx="2049170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0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Small Modular Reactors (SMR)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49286" y="4393572"/>
            <a:ext cx="2049170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0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Advanced nuclear fuel cycle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549286" y="4617600"/>
            <a:ext cx="2049170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0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Reactor safety &amp; compliance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549286" y="4841628"/>
            <a:ext cx="2049170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10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Clean energy transition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9D2C0-E4C5-B37C-B797-3A597319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34">
            <a:extLst>
              <a:ext uri="{FF2B5EF4-FFF2-40B4-BE49-F238E27FC236}">
                <a16:creationId xmlns:a16="http://schemas.microsoft.com/office/drawing/2014/main" id="{CB4CAFBE-5065-0AC3-4D06-D7D196C25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1665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46F3FB-7145-1B4D-05BA-9FFEAA8FD66F}"/>
              </a:ext>
            </a:extLst>
          </p:cNvPr>
          <p:cNvSpPr txBox="1"/>
          <p:nvPr/>
        </p:nvSpPr>
        <p:spPr>
          <a:xfrm>
            <a:off x="1142083" y="1714543"/>
            <a:ext cx="4953917" cy="1271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IN" sz="5000" dirty="0">
                <a:solidFill>
                  <a:schemeClr val="bg1"/>
                </a:solidFill>
              </a:rPr>
              <a:t>Strategic partnerships</a:t>
            </a:r>
            <a:endParaRPr lang="en-US" sz="5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CD3E93-689D-6980-FA27-AD5CDEA02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4792" y="332349"/>
            <a:ext cx="1204555" cy="96012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43F8451-5AB5-38A5-5BB9-7057662AE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96" y="3507303"/>
            <a:ext cx="1786056" cy="38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entre for Development of Advanced Computing - Wikipedia">
            <a:extLst>
              <a:ext uri="{FF2B5EF4-FFF2-40B4-BE49-F238E27FC236}">
                <a16:creationId xmlns:a16="http://schemas.microsoft.com/office/drawing/2014/main" id="{27A84AE8-AA8E-1EC7-BA7B-FB4CB8582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433" y="3455339"/>
            <a:ext cx="627201" cy="43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SNL Turnover and Share Price Analysis: A Look at Its Financial Performance  - Renaissance Investment Advisors">
            <a:extLst>
              <a:ext uri="{FF2B5EF4-FFF2-40B4-BE49-F238E27FC236}">
                <a16:creationId xmlns:a16="http://schemas.microsoft.com/office/drawing/2014/main" id="{20199354-CF4E-7E2B-7957-928FA7B14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815" y="3446428"/>
            <a:ext cx="1004175" cy="48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पावर ग्रिड">
            <a:extLst>
              <a:ext uri="{FF2B5EF4-FFF2-40B4-BE49-F238E27FC236}">
                <a16:creationId xmlns:a16="http://schemas.microsoft.com/office/drawing/2014/main" id="{F84F77B6-5F00-04D6-214F-48090A1858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55" y="3456743"/>
            <a:ext cx="1510751" cy="438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39A313FF-C4B9-1E09-9A12-5A678C3104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083" y="4178415"/>
            <a:ext cx="2945827" cy="608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2" name="Picture 10" descr="PFC CONSULTING LIMITED (A Wholly Owned Subsidiary of Power Finance  Corporation Ltd.) (A Government of India Undertaking) Electro">
            <a:extLst>
              <a:ext uri="{FF2B5EF4-FFF2-40B4-BE49-F238E27FC236}">
                <a16:creationId xmlns:a16="http://schemas.microsoft.com/office/drawing/2014/main" id="{B2DDF3FC-0CF3-E66A-3C71-1E4C5D00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899" y="4103723"/>
            <a:ext cx="2041071" cy="683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OGO">
            <a:extLst>
              <a:ext uri="{FF2B5EF4-FFF2-40B4-BE49-F238E27FC236}">
                <a16:creationId xmlns:a16="http://schemas.microsoft.com/office/drawing/2014/main" id="{43686CF5-A7C7-E31D-FE1D-B29CCFA23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853" y="4069277"/>
            <a:ext cx="2278478" cy="96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FBA249-E5DA-56EA-9CFE-209881BE69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9986" y="4209087"/>
            <a:ext cx="441854" cy="4726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A31464-BF3E-794E-BFB5-C31762A631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05038" y="4347799"/>
            <a:ext cx="1936172" cy="339641"/>
          </a:xfrm>
          <a:prstGeom prst="rect">
            <a:avLst/>
          </a:prstGeom>
        </p:spPr>
      </p:pic>
      <p:pic>
        <p:nvPicPr>
          <p:cNvPr id="10" name="Picture 9" descr="Solar Energy Corporation of India Limited">
            <a:extLst>
              <a:ext uri="{FF2B5EF4-FFF2-40B4-BE49-F238E27FC236}">
                <a16:creationId xmlns:a16="http://schemas.microsoft.com/office/drawing/2014/main" id="{48FE23C9-4C6B-DBB4-3ECB-953F1D23C1A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084" y="5068141"/>
            <a:ext cx="1052786" cy="608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8380D5-F02F-B2FC-D128-25F40AB02E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717" y="4941785"/>
            <a:ext cx="679904" cy="734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ztstransco logo">
            <a:extLst>
              <a:ext uri="{FF2B5EF4-FFF2-40B4-BE49-F238E27FC236}">
                <a16:creationId xmlns:a16="http://schemas.microsoft.com/office/drawing/2014/main" id="{28BD1C68-FF9A-E42F-BB51-EBA5EAF2FC0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0276" y="3267555"/>
            <a:ext cx="1060657" cy="766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MES">
            <a:extLst>
              <a:ext uri="{FF2B5EF4-FFF2-40B4-BE49-F238E27FC236}">
                <a16:creationId xmlns:a16="http://schemas.microsoft.com/office/drawing/2014/main" id="{C52F488A-D7E5-185C-C5C0-A6801CA5638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227" y="4804183"/>
            <a:ext cx="1592860" cy="96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Logo">
            <a:extLst>
              <a:ext uri="{FF2B5EF4-FFF2-40B4-BE49-F238E27FC236}">
                <a16:creationId xmlns:a16="http://schemas.microsoft.com/office/drawing/2014/main" id="{A4DB996B-C4F4-B2FA-10C8-96CFC39580AC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371" y="5069322"/>
            <a:ext cx="1193542" cy="575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8BF1E97-3ECF-5EBA-71AC-0F89DC38FEF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469" y="5078190"/>
            <a:ext cx="2031371" cy="518648"/>
          </a:xfrm>
          <a:prstGeom prst="rect">
            <a:avLst/>
          </a:prstGeom>
          <a:noFill/>
        </p:spPr>
      </p:pic>
      <p:pic>
        <p:nvPicPr>
          <p:cNvPr id="19" name="Picture 18" descr="G R Infraprojects Ltd | Haryana">
            <a:extLst>
              <a:ext uri="{FF2B5EF4-FFF2-40B4-BE49-F238E27FC236}">
                <a16:creationId xmlns:a16="http://schemas.microsoft.com/office/drawing/2014/main" id="{072BAB16-9B78-79DC-9C2C-74B71945AF4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8266" y="4069277"/>
            <a:ext cx="861504" cy="579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 descr="PVR PROJECTS LTD">
            <a:extLst>
              <a:ext uri="{FF2B5EF4-FFF2-40B4-BE49-F238E27FC236}">
                <a16:creationId xmlns:a16="http://schemas.microsoft.com/office/drawing/2014/main" id="{15AE1614-5E24-E263-186A-6E491DB46ED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038" y="5029397"/>
            <a:ext cx="914797" cy="40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 descr="generic-logo">
            <a:extLst>
              <a:ext uri="{FF2B5EF4-FFF2-40B4-BE49-F238E27FC236}">
                <a16:creationId xmlns:a16="http://schemas.microsoft.com/office/drawing/2014/main" id="{EEA5BB76-C38A-D67D-8B42-9B335C7B7AB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6735" y="5139891"/>
            <a:ext cx="1152873" cy="228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 descr="Veremax Logo">
            <a:extLst>
              <a:ext uri="{FF2B5EF4-FFF2-40B4-BE49-F238E27FC236}">
                <a16:creationId xmlns:a16="http://schemas.microsoft.com/office/drawing/2014/main" id="{505AEC52-6041-1911-CE64-8E4FF88C446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8" y="5919031"/>
            <a:ext cx="2134658" cy="522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 descr="Cypress Solutions">
            <a:extLst>
              <a:ext uri="{FF2B5EF4-FFF2-40B4-BE49-F238E27FC236}">
                <a16:creationId xmlns:a16="http://schemas.microsoft.com/office/drawing/2014/main" id="{63A7DF60-4810-0719-C6D8-893817A0F9C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748" y="5962020"/>
            <a:ext cx="1892339" cy="455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 descr="RR DURAFABS PRIVATE LIMITED">
            <a:extLst>
              <a:ext uri="{FF2B5EF4-FFF2-40B4-BE49-F238E27FC236}">
                <a16:creationId xmlns:a16="http://schemas.microsoft.com/office/drawing/2014/main" id="{CF504B46-46ED-2AC9-4556-8EDBB5902EC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3172" y="3304974"/>
            <a:ext cx="558243" cy="650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 descr="Telecommunications Consultants India Limited(TCIL) Logo">
            <a:extLst>
              <a:ext uri="{FF2B5EF4-FFF2-40B4-BE49-F238E27FC236}">
                <a16:creationId xmlns:a16="http://schemas.microsoft.com/office/drawing/2014/main" id="{9F1CEB8B-EB49-ABAF-A8B4-30691259355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997" y="4984774"/>
            <a:ext cx="679904" cy="65400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56CFADE-E42E-E149-331C-D07A3C24B7E2}"/>
              </a:ext>
            </a:extLst>
          </p:cNvPr>
          <p:cNvSpPr/>
          <p:nvPr/>
        </p:nvSpPr>
        <p:spPr>
          <a:xfrm>
            <a:off x="0" y="6763446"/>
            <a:ext cx="12192000" cy="133458"/>
          </a:xfrm>
          <a:prstGeom prst="rect">
            <a:avLst/>
          </a:prstGeom>
          <a:solidFill>
            <a:srgbClr val="FBB4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7EAB4A-647A-24E1-464F-E9EBC208EB0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59286" y="3211763"/>
            <a:ext cx="1404939" cy="8780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0A3F93-2DB3-A950-2BA0-5A269E7FD31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38866" y="3295934"/>
            <a:ext cx="698493" cy="73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79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4865" y="539496"/>
            <a:ext cx="12161520" cy="4572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PORTFOLIO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91425" y="64008"/>
            <a:ext cx="2468880" cy="4023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731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Ongoing: </a:t>
            </a:r>
            <a:r>
              <a:rPr lang="en-US" sz="1600" b="1" dirty="0">
                <a:solidFill>
                  <a:schemeClr val="bg1"/>
                </a:solidFill>
              </a:rPr>
              <a:t>₹</a:t>
            </a:r>
            <a:r>
              <a:rPr lang="en-IN" sz="1600" b="1" dirty="0">
                <a:solidFill>
                  <a:schemeClr val="bg1"/>
                </a:solidFill>
              </a:rPr>
              <a:t>2200 </a:t>
            </a:r>
            <a:r>
              <a:rPr lang="en-US" sz="1600" b="1" dirty="0">
                <a:solidFill>
                  <a:srgbClr val="FFFFFF"/>
                </a:solidFill>
              </a:rPr>
              <a:t>Cr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73152"/>
            <a:ext cx="2606040" cy="402336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9326880" y="7315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Pipeline: ₹20,000+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721177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ONGOING PROJECTS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71393" y="977209"/>
          <a:ext cx="11142129" cy="4844444"/>
        </p:xfrm>
        <a:graphic>
          <a:graphicData uri="http://schemas.openxmlformats.org/drawingml/2006/table">
            <a:tbl>
              <a:tblPr/>
              <a:tblGrid>
                <a:gridCol w="852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1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2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Sector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Construction of Four G+4 Residential Buildings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4A5568"/>
                          </a:solidFill>
                        </a:rPr>
                        <a:t>MES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Civil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Supply &amp; Installation of 48,893 DTC Meters (6 Districts) + 5-Yr Maintenance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4A5568"/>
                          </a:solidFill>
                        </a:rPr>
                        <a:t>HESCOM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Power / Metering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6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Construction of 400/220 KV GIS Substation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4A5568"/>
                          </a:solidFill>
                        </a:rPr>
                        <a:t>PGCIL, Roorkee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Power Transmission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Construction of Transmission Line &amp; Towers - 400/220 KV GIS Substation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4A5568"/>
                          </a:solidFill>
                        </a:rPr>
                        <a:t>PGCIL, Roorkee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Power Transmission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5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Construction of Conveyor system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/>
                        <a:t>Morocco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Industrial Infra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826429"/>
                  </a:ext>
                </a:extLst>
              </a:tr>
              <a:tr h="37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Construction &amp; Development of Commercial complex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4A5568"/>
                          </a:solidFill>
                        </a:rPr>
                        <a:t>Singrauli, MP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Real Estate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Development of Middle Mile Network on DBOM Basis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4A5568"/>
                          </a:solidFill>
                        </a:rPr>
                        <a:t>BharatNet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Telecom / Infra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8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Construction G+17 Building in  Mumbai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Terna Trust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Civil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403748"/>
                  </a:ext>
                </a:extLst>
              </a:tr>
              <a:tr h="4902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9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Construction of G+2 Building in </a:t>
                      </a:r>
                      <a:r>
                        <a:rPr lang="en-US" sz="1200" dirty="0" err="1"/>
                        <a:t>ahilyanagar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MES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Civil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489998"/>
                  </a:ext>
                </a:extLst>
              </a:tr>
              <a:tr h="37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10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Construction of 5G Towers in 6 states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BSNL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Telecom / Infra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70245"/>
                  </a:ext>
                </a:extLst>
              </a:tr>
              <a:tr h="3781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11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Construction of </a:t>
                      </a:r>
                      <a:r>
                        <a:rPr lang="en-US" sz="1200" dirty="0" err="1"/>
                        <a:t>Ambhaji</a:t>
                      </a:r>
                      <a:r>
                        <a:rPr lang="en-US" sz="1200" dirty="0"/>
                        <a:t> Railway Station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NWR</a:t>
                      </a:r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Civil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427139"/>
                  </a:ext>
                </a:extLst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0" y="6564429"/>
            <a:ext cx="12161520" cy="274320"/>
          </a:xfrm>
          <a:prstGeom prst="rect">
            <a:avLst/>
          </a:prstGeom>
          <a:solidFill>
            <a:srgbClr val="FFC000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2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5E96B1B-75D6-EB83-B58E-802813CF6F3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1245" y="5549445"/>
            <a:ext cx="1204555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5BE43-7B4F-6563-317E-9BCC4963E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6AA1D6-CE04-6043-1BF3-5186F042C83C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1A01A03-8B3F-55BD-26F9-E96D2B52AEA7}"/>
              </a:ext>
            </a:extLst>
          </p:cNvPr>
          <p:cNvSpPr/>
          <p:nvPr/>
        </p:nvSpPr>
        <p:spPr>
          <a:xfrm>
            <a:off x="-24865" y="539496"/>
            <a:ext cx="12161520" cy="4572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C46346-1BFE-8CC3-20CC-250264E1C47A}"/>
              </a:ext>
            </a:extLst>
          </p:cNvPr>
          <p:cNvSpPr/>
          <p:nvPr/>
        </p:nvSpPr>
        <p:spPr>
          <a:xfrm>
            <a:off x="274320" y="45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PORTFOLIO OVERVIEW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5BF0BAE-4262-B435-2DD4-2579FEE5FC27}"/>
              </a:ext>
            </a:extLst>
          </p:cNvPr>
          <p:cNvSpPr/>
          <p:nvPr/>
        </p:nvSpPr>
        <p:spPr>
          <a:xfrm>
            <a:off x="6791425" y="64008"/>
            <a:ext cx="2468880" cy="4023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8EB89DF-ADF3-26C0-B19F-F18B2298047F}"/>
              </a:ext>
            </a:extLst>
          </p:cNvPr>
          <p:cNvSpPr/>
          <p:nvPr/>
        </p:nvSpPr>
        <p:spPr>
          <a:xfrm>
            <a:off x="6766560" y="731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Ongoing: </a:t>
            </a:r>
            <a:r>
              <a:rPr lang="en-US" sz="1600" b="1" dirty="0">
                <a:solidFill>
                  <a:schemeClr val="bg1"/>
                </a:solidFill>
              </a:rPr>
              <a:t>₹</a:t>
            </a:r>
            <a:r>
              <a:rPr lang="en-IN" sz="1600" b="1" dirty="0">
                <a:solidFill>
                  <a:schemeClr val="bg1"/>
                </a:solidFill>
              </a:rPr>
              <a:t>2000 </a:t>
            </a:r>
            <a:r>
              <a:rPr lang="en-US" sz="1600" b="1" dirty="0">
                <a:solidFill>
                  <a:srgbClr val="FFFFFF"/>
                </a:solidFill>
              </a:rPr>
              <a:t>Cr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A5E1EA2-EF5F-CCB6-D940-0B01FF8AFA01}"/>
              </a:ext>
            </a:extLst>
          </p:cNvPr>
          <p:cNvSpPr/>
          <p:nvPr/>
        </p:nvSpPr>
        <p:spPr>
          <a:xfrm>
            <a:off x="9326880" y="73152"/>
            <a:ext cx="2606040" cy="402336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8FF8514-BD3D-9DDE-CE46-03B71F4D8A2B}"/>
              </a:ext>
            </a:extLst>
          </p:cNvPr>
          <p:cNvSpPr/>
          <p:nvPr/>
        </p:nvSpPr>
        <p:spPr>
          <a:xfrm>
            <a:off x="9326880" y="7315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Pipeline: ₹20,000+ Cr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43281F8-1E5A-1930-D30F-22F2722B5319}"/>
              </a:ext>
            </a:extLst>
          </p:cNvPr>
          <p:cNvSpPr/>
          <p:nvPr/>
        </p:nvSpPr>
        <p:spPr>
          <a:xfrm>
            <a:off x="786248" y="73537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PROJECTS</a:t>
            </a:r>
            <a:endParaRPr lang="en-US" sz="1400" dirty="0"/>
          </a:p>
        </p:txBody>
      </p:sp>
      <p:graphicFrame>
        <p:nvGraphicFramePr>
          <p:cNvPr id="13" name="Table 1">
            <a:extLst>
              <a:ext uri="{FF2B5EF4-FFF2-40B4-BE49-F238E27FC236}">
                <a16:creationId xmlns:a16="http://schemas.microsoft.com/office/drawing/2014/main" id="{2B360E8C-E8CD-68E9-14E1-65F505663832}"/>
              </a:ext>
            </a:extLst>
          </p:cNvPr>
          <p:cNvGraphicFramePr>
            <a:graphicFrameLocks noGrp="1"/>
          </p:cNvGraphicFramePr>
          <p:nvPr/>
        </p:nvGraphicFramePr>
        <p:xfrm>
          <a:off x="528453" y="1150700"/>
          <a:ext cx="10554517" cy="2821165"/>
        </p:xfrm>
        <a:graphic>
          <a:graphicData uri="http://schemas.openxmlformats.org/drawingml/2006/table">
            <a:tbl>
              <a:tblPr/>
              <a:tblGrid>
                <a:gridCol w="883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8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5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7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M&amp;A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Due Diligence of Product &amp; EPC Companies for 3 Potential Mergers &amp; Acquisitions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Strategic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EPC Bids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EPC Works Being Pursued via Bids in Domestic &amp; International Markets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Active Bidding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Investments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Investments Under Planning &amp; Execution Across Key Infrastructure Sectors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Under Planning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HAM Projects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Hybrid Annuity Model Projects Under Bidding at Domestic Level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A4"/>
                          </a:solidFill>
                        </a:rPr>
                        <a:t>Under Bidding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>
            <a:extLst>
              <a:ext uri="{FF2B5EF4-FFF2-40B4-BE49-F238E27FC236}">
                <a16:creationId xmlns:a16="http://schemas.microsoft.com/office/drawing/2014/main" id="{5C723625-7D71-38C0-4C30-D2AD3DA7AC9D}"/>
              </a:ext>
            </a:extLst>
          </p:cNvPr>
          <p:cNvSpPr/>
          <p:nvPr/>
        </p:nvSpPr>
        <p:spPr>
          <a:xfrm>
            <a:off x="3143207" y="4329204"/>
            <a:ext cx="131673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4346D37-CF26-2A93-A8AE-7430D3969DC1}"/>
              </a:ext>
            </a:extLst>
          </p:cNvPr>
          <p:cNvSpPr/>
          <p:nvPr/>
        </p:nvSpPr>
        <p:spPr>
          <a:xfrm>
            <a:off x="3143207" y="4329204"/>
            <a:ext cx="54864" cy="10972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4489924-0FB5-696A-A3DB-3B63E1032051}"/>
              </a:ext>
            </a:extLst>
          </p:cNvPr>
          <p:cNvSpPr/>
          <p:nvPr/>
        </p:nvSpPr>
        <p:spPr>
          <a:xfrm>
            <a:off x="3202604" y="437492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₹5,500 Cr</a:t>
            </a:r>
            <a:endParaRPr lang="en-US" sz="12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B91EC92-206D-FF29-75D5-49D8F856DE53}"/>
              </a:ext>
            </a:extLst>
          </p:cNvPr>
          <p:cNvSpPr/>
          <p:nvPr/>
        </p:nvSpPr>
        <p:spPr>
          <a:xfrm>
            <a:off x="3202604" y="4859556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Bids</a:t>
            </a:r>
            <a:endParaRPr lang="en-US" sz="12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F7583D9-7D6A-5A35-F442-AAB60657CE12}"/>
              </a:ext>
            </a:extLst>
          </p:cNvPr>
          <p:cNvSpPr/>
          <p:nvPr/>
        </p:nvSpPr>
        <p:spPr>
          <a:xfrm>
            <a:off x="4537628" y="4329204"/>
            <a:ext cx="131673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AD5A6A3B-364A-F17C-6C29-E741FB296BF9}"/>
              </a:ext>
            </a:extLst>
          </p:cNvPr>
          <p:cNvSpPr/>
          <p:nvPr/>
        </p:nvSpPr>
        <p:spPr>
          <a:xfrm>
            <a:off x="4537628" y="4329204"/>
            <a:ext cx="54864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3B925EDA-2F93-4089-731C-0AB4A39BC60E}"/>
              </a:ext>
            </a:extLst>
          </p:cNvPr>
          <p:cNvSpPr/>
          <p:nvPr/>
        </p:nvSpPr>
        <p:spPr>
          <a:xfrm>
            <a:off x="4629068" y="437492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₹8,000 Cr</a:t>
            </a:r>
            <a:endParaRPr lang="en-US" sz="12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39B89F1-2854-B2D5-6FAA-48D757B655B9}"/>
              </a:ext>
            </a:extLst>
          </p:cNvPr>
          <p:cNvSpPr/>
          <p:nvPr/>
        </p:nvSpPr>
        <p:spPr>
          <a:xfrm>
            <a:off x="4629068" y="4859556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2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213FBCE3-B67D-944B-86FB-1841ECF96B7B}"/>
              </a:ext>
            </a:extLst>
          </p:cNvPr>
          <p:cNvSpPr/>
          <p:nvPr/>
        </p:nvSpPr>
        <p:spPr>
          <a:xfrm>
            <a:off x="5964092" y="4329204"/>
            <a:ext cx="131673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AB3E6B4F-6609-DBF2-B45F-095DA4683827}"/>
              </a:ext>
            </a:extLst>
          </p:cNvPr>
          <p:cNvSpPr/>
          <p:nvPr/>
        </p:nvSpPr>
        <p:spPr>
          <a:xfrm>
            <a:off x="5964092" y="4329204"/>
            <a:ext cx="54864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D2911210-B191-5EDC-9F49-BD94C8DC1D54}"/>
              </a:ext>
            </a:extLst>
          </p:cNvPr>
          <p:cNvSpPr/>
          <p:nvPr/>
        </p:nvSpPr>
        <p:spPr>
          <a:xfrm>
            <a:off x="6055532" y="437492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₹6,500 Cr</a:t>
            </a:r>
            <a:endParaRPr lang="en-US" sz="12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7BB8DFA4-0BF7-7C72-7CC8-AE04B23A0A9C}"/>
              </a:ext>
            </a:extLst>
          </p:cNvPr>
          <p:cNvSpPr/>
          <p:nvPr/>
        </p:nvSpPr>
        <p:spPr>
          <a:xfrm>
            <a:off x="6055532" y="4859556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Projects</a:t>
            </a:r>
            <a:endParaRPr lang="en-US" sz="12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E525FB21-8EFA-0E7B-DA68-544F79818FC3}"/>
              </a:ext>
            </a:extLst>
          </p:cNvPr>
          <p:cNvSpPr/>
          <p:nvPr/>
        </p:nvSpPr>
        <p:spPr>
          <a:xfrm>
            <a:off x="7390556" y="4329204"/>
            <a:ext cx="131673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59BA93F8-C49D-9F5C-8262-13D2D4AEFD14}"/>
              </a:ext>
            </a:extLst>
          </p:cNvPr>
          <p:cNvSpPr/>
          <p:nvPr/>
        </p:nvSpPr>
        <p:spPr>
          <a:xfrm>
            <a:off x="7390556" y="4329204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473FBABB-E741-7B16-8553-94EB1754B03A}"/>
              </a:ext>
            </a:extLst>
          </p:cNvPr>
          <p:cNvSpPr/>
          <p:nvPr/>
        </p:nvSpPr>
        <p:spPr>
          <a:xfrm>
            <a:off x="7481996" y="437492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Deals</a:t>
            </a:r>
            <a:endParaRPr lang="en-US" sz="12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219ECD34-3785-CC0D-FD91-4E0996D591F5}"/>
              </a:ext>
            </a:extLst>
          </p:cNvPr>
          <p:cNvSpPr/>
          <p:nvPr/>
        </p:nvSpPr>
        <p:spPr>
          <a:xfrm>
            <a:off x="7481996" y="4859556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Targets</a:t>
            </a:r>
            <a:endParaRPr lang="en-US" sz="1200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6A8CEFBD-FC16-B723-C30E-DFAC80481CDD}"/>
              </a:ext>
            </a:extLst>
          </p:cNvPr>
          <p:cNvSpPr/>
          <p:nvPr/>
        </p:nvSpPr>
        <p:spPr>
          <a:xfrm>
            <a:off x="3083732" y="5832670"/>
            <a:ext cx="5605272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DFE1F69F-05F2-438D-18AB-938DF21DDC04}"/>
              </a:ext>
            </a:extLst>
          </p:cNvPr>
          <p:cNvSpPr/>
          <p:nvPr/>
        </p:nvSpPr>
        <p:spPr>
          <a:xfrm>
            <a:off x="3111164" y="5823044"/>
            <a:ext cx="5605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Pipeline Opportunity: ₹20,000+ Crores  |  Domestic &amp; International Markets</a:t>
            </a:r>
            <a:endParaRPr lang="en-US" sz="120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EDF2BC5D-97D4-A066-F045-E4C80828386A}"/>
              </a:ext>
            </a:extLst>
          </p:cNvPr>
          <p:cNvSpPr/>
          <p:nvPr/>
        </p:nvSpPr>
        <p:spPr>
          <a:xfrm>
            <a:off x="0" y="6564429"/>
            <a:ext cx="12161520" cy="274320"/>
          </a:xfrm>
          <a:prstGeom prst="rect">
            <a:avLst/>
          </a:prstGeom>
          <a:solidFill>
            <a:srgbClr val="FFC000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2AAAAD75-C39E-4016-81F1-59B65B044115}"/>
              </a:ext>
            </a:extLst>
          </p:cNvPr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BF27EB6-F088-F76C-668E-3EEBC10737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1245" y="5549445"/>
            <a:ext cx="1204555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50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628">
              <a:alpha val="80000"/>
            </a:srgbClr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864608" y="502920"/>
            <a:ext cx="1828800" cy="274320"/>
          </a:xfrm>
          <a:prstGeom prst="roundRect">
            <a:avLst>
              <a:gd name="adj" fmla="val 40000"/>
            </a:avLst>
          </a:prstGeom>
          <a:solidFill>
            <a:srgbClr val="1E2F48"/>
          </a:solidFill>
          <a:ln w="6350">
            <a:solidFill>
              <a:srgbClr val="2E406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64608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4 OF 5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Manah </a:t>
            </a:r>
            <a:r>
              <a:rPr lang="en-US" sz="3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Private Limited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669280" y="1554480"/>
            <a:ext cx="82296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1627632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"Pioneering Clean Nuclear Energy for a Sustainable Tomorrow"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201168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Manah Atomic Private Limited is building India's next-generation nuclear energy platform — deploying </a:t>
            </a: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Modular Reactors (SMRs)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advanced reactor technologies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deliver safe, scalable, and carbon-free power for industrial clusters, remote grids, and national energy security.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652760" y="54864"/>
            <a:ext cx="1389888" cy="621792"/>
          </a:xfrm>
          <a:prstGeom prst="ellipse">
            <a:avLst/>
          </a:prstGeom>
          <a:solidFill>
            <a:srgbClr val="FFFFFF">
              <a:alpha val="0"/>
            </a:srgbClr>
          </a:solidFill>
          <a:ln w="1143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064240" y="0"/>
            <a:ext cx="621792" cy="1005840"/>
          </a:xfrm>
          <a:prstGeom prst="ellipse">
            <a:avLst/>
          </a:prstGeom>
          <a:solidFill>
            <a:srgbClr val="FFFFFF">
              <a:alpha val="0"/>
            </a:srgbClr>
          </a:solidFill>
          <a:ln w="1143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265408" y="411480"/>
            <a:ext cx="155448" cy="155448"/>
          </a:xfrm>
          <a:prstGeom prst="ellipse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2834640"/>
            <a:ext cx="2633472" cy="1097280"/>
          </a:xfrm>
          <a:prstGeom prst="roundRect">
            <a:avLst>
              <a:gd name="adj" fmla="val 10000"/>
            </a:avLst>
          </a:prstGeom>
          <a:solidFill>
            <a:srgbClr val="1A2840"/>
          </a:solidFill>
          <a:ln w="7620">
            <a:solidFill>
              <a:srgbClr val="D4AA5A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88036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SMR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02920" y="3447288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Focus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3666744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Modular Reactors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319272" y="2834640"/>
            <a:ext cx="2633472" cy="1097280"/>
          </a:xfrm>
          <a:prstGeom prst="roundRect">
            <a:avLst>
              <a:gd name="adj" fmla="val 10000"/>
            </a:avLst>
          </a:prstGeom>
          <a:solidFill>
            <a:srgbClr val="1A2840"/>
          </a:solidFill>
          <a:ln w="7620">
            <a:solidFill>
              <a:srgbClr val="D4AA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5"/>
          <p:cNvSpPr/>
          <p:nvPr/>
        </p:nvSpPr>
        <p:spPr>
          <a:xfrm>
            <a:off x="3319272" y="288036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 GW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319272" y="3447288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by 2047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319272" y="3666744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Clean Energy Path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6135624" y="2834640"/>
            <a:ext cx="2633472" cy="1097280"/>
          </a:xfrm>
          <a:prstGeom prst="roundRect">
            <a:avLst>
              <a:gd name="adj" fmla="val 10000"/>
            </a:avLst>
          </a:prstGeom>
          <a:solidFill>
            <a:srgbClr val="1A2840"/>
          </a:solidFill>
          <a:ln w="7620">
            <a:solidFill>
              <a:srgbClr val="D4AA5A">
                <a:alpha val="5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35624" y="288036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 MW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135624" y="3447288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Reactor Unit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35624" y="3666744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Output Capacity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8951976" y="2834640"/>
            <a:ext cx="2633472" cy="1097280"/>
          </a:xfrm>
          <a:prstGeom prst="roundRect">
            <a:avLst>
              <a:gd name="adj" fmla="val 10000"/>
            </a:avLst>
          </a:prstGeom>
          <a:solidFill>
            <a:srgbClr val="1A2840"/>
          </a:solidFill>
          <a:ln w="7620">
            <a:solidFill>
              <a:srgbClr val="D4AA5A">
                <a:alpha val="5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51976" y="288036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₹10,000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951976" y="3447288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Investment Plan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951976" y="3666744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Capital Deployment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411480" y="4069080"/>
            <a:ext cx="3657600" cy="2514600"/>
          </a:xfrm>
          <a:prstGeom prst="roundRect">
            <a:avLst>
              <a:gd name="adj" fmla="val 4364"/>
            </a:avLst>
          </a:prstGeom>
          <a:solidFill>
            <a:srgbClr val="131F34"/>
          </a:solidFill>
          <a:ln w="8890">
            <a:solidFill>
              <a:srgbClr val="C9A84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4069080"/>
            <a:ext cx="50292" cy="2514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9496" y="4187952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Modular Reactors (SMR)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39496" y="4507992"/>
            <a:ext cx="3291840" cy="27432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9496" y="4581144"/>
            <a:ext cx="34381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Factory-built, deployable reactors of 50–300 MW. Faster to construct, lower capital risk, and scalable for industrial clusters, remote grids &amp; defence installations across India.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297680" y="4069080"/>
            <a:ext cx="3657600" cy="2514600"/>
          </a:xfrm>
          <a:prstGeom prst="roundRect">
            <a:avLst>
              <a:gd name="adj" fmla="val 4364"/>
            </a:avLst>
          </a:prstGeom>
          <a:solidFill>
            <a:srgbClr val="131F34"/>
          </a:solidFill>
          <a:ln w="8890">
            <a:solidFill>
              <a:srgbClr val="C9A84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7680" y="4069080"/>
            <a:ext cx="50292" cy="2514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25696" y="4187952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Fuel &amp; Waste Management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425696" y="4507992"/>
            <a:ext cx="3291840" cy="27432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425696" y="4581144"/>
            <a:ext cx="34381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fuel cycle management — procurement, processing, and safe disposal — in compliance with IAEA and AERB standards, ensuring zero-compromise safety.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183880" y="4069080"/>
            <a:ext cx="3657600" cy="2514600"/>
          </a:xfrm>
          <a:prstGeom prst="roundRect">
            <a:avLst>
              <a:gd name="adj" fmla="val 4364"/>
            </a:avLst>
          </a:prstGeom>
          <a:solidFill>
            <a:srgbClr val="131F34"/>
          </a:solidFill>
          <a:ln w="8890">
            <a:solidFill>
              <a:srgbClr val="C9A84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183880" y="4069080"/>
            <a:ext cx="50292" cy="2514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11896" y="4187952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&amp; Technology Licensing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311896" y="4507992"/>
            <a:ext cx="3291840" cy="27432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311896" y="4581144"/>
            <a:ext cx="34381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passive safety systems, global nuclear lab partnerships, and reactor technology licensing to accelerate India-first SMR deployment with proven international standards.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492</Words>
  <Application>Microsoft Office PowerPoint</Application>
  <PresentationFormat>Widescreen</PresentationFormat>
  <Paragraphs>119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 Mummaneni</dc:creator>
  <cp:lastModifiedBy>Harish Mummaneni</cp:lastModifiedBy>
  <cp:revision>1</cp:revision>
  <dcterms:created xsi:type="dcterms:W3CDTF">2026-04-23T05:58:42Z</dcterms:created>
  <dcterms:modified xsi:type="dcterms:W3CDTF">2026-04-23T06:02:24Z</dcterms:modified>
</cp:coreProperties>
</file>